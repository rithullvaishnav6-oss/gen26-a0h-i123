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8" r:id="rId2"/>
    <p:sldId id="265" r:id="rId3"/>
    <p:sldId id="267" r:id="rId4"/>
    <p:sldId id="260" r:id="rId5"/>
    <p:sldId id="261" r:id="rId6"/>
    <p:sldId id="262" r:id="rId7"/>
    <p:sldId id="263"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8"/>
            <p14:sldId id="265"/>
            <p14:sldId id="267"/>
            <p14:sldId id="260"/>
            <p14:sldId id="261"/>
            <p14:sldId id="262"/>
            <p14:sldId id="26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3C44186-F274-F575-BC01-55E5641E41EF}" name="Chundi Karthik - [CB.EN.U4ELC26108]" initials="C[" userId="S::cb.en.u4elc26108@cb.students.amrita.edu::23dc2273-80a8-457d-8720-0c479a2cd9d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485" dt="2026-10-09T18:23:42.312"/>
    <p1510:client id="{5BD9F265-4A65-B0CE-9C7E-0ECF59B02DE0}" v="382" dt="2026-10-09T16:38:59.928"/>
    <p1510:client id="{B06F7CAD-06EC-DB1C-1917-5ABEA445A737}" v="519" dt="2026-10-09T17:38:05.388"/>
    <p1510:client id="{C23D0372-3EFB-851B-F5D0-4E5CA3514C05}" v="579" dt="2026-10-09T15:56:14.8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9692A6A5-71AE-4AC7-A4B8-ED831DC75A8F}" type="datetimeFigureOut">
              <a:t>10/10/2026</a:t>
            </a:fld>
            <a:endParaRPr lang="en-GB"/>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7C8122F-CE8B-4DA9-BC0A-148A5265EDFA}" type="slidenum">
              <a:t>‹#›</a:t>
            </a:fld>
            <a:endParaRPr lang="en-GB"/>
          </a:p>
        </p:txBody>
      </p:sp>
    </p:spTree>
    <p:extLst>
      <p:ext uri="{BB962C8B-B14F-4D97-AF65-F5344CB8AC3E}">
        <p14:creationId xmlns:p14="http://schemas.microsoft.com/office/powerpoint/2010/main" val="3670923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7CC00-F50A-D8B9-70D7-6A669D51B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3B614-A8FB-50FB-9AC6-03650D02B9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DF3A7-A468-8104-373B-7F6BCF488C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5B05B47-128D-A797-856B-29D255E04F3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79631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a:solidFill>
                  <a:schemeClr val="accent6"/>
                </a:solidFill>
              </a:rPr>
              <a:t>Genesis Ideathon – Pre-Ideathon Template</a:t>
            </a:r>
            <a:endParaRPr lang="en-US" sz="105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a:solidFill>
                  <a:schemeClr val="tx2"/>
                </a:solidFill>
                <a:latin typeface="Cambria" pitchFamily="34" charset="0"/>
                <a:ea typeface="Cambria" pitchFamily="34" charset="-122"/>
                <a:cs typeface="Cambria" pitchFamily="34" charset="-120"/>
              </a:rPr>
              <a:t>SLIDE TITLE</a:t>
            </a:r>
            <a:endParaRPr lang="en-US" sz="240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WHO IS AFFECTED?</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ea typeface="Calibri"/>
                <a:cs typeface="Calibri"/>
              </a:rPr>
              <a:t>Binary Brains</a:t>
            </a:r>
          </a:p>
        </p:txBody>
      </p:sp>
      <p:sp>
        <p:nvSpPr>
          <p:cNvPr id="7" name="Lead Icon Hex"/>
          <p:cNvSpPr/>
          <p:nvPr/>
        </p:nvSpPr>
        <p:spPr>
          <a:xfrm>
            <a:off x="577577" y="120261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69017" y="1262960"/>
            <a:ext cx="274320" cy="274320"/>
          </a:xfrm>
          <a:prstGeom prst="rect">
            <a:avLst/>
          </a:prstGeom>
        </p:spPr>
      </p:pic>
      <p:sp>
        <p:nvSpPr>
          <p:cNvPr id="9" name="Lead Text"/>
          <p:cNvSpPr txBox="1"/>
          <p:nvPr/>
        </p:nvSpPr>
        <p:spPr>
          <a:xfrm>
            <a:off x="1102913" y="1214763"/>
            <a:ext cx="9601200" cy="502920"/>
          </a:xfrm>
          <a:prstGeom prst="rect">
            <a:avLst/>
          </a:prstGeom>
          <a:noFill/>
          <a:ln/>
        </p:spPr>
        <p:txBody>
          <a:bodyPr wrap="square" lIns="0" tIns="0" rIns="0" bIns="0" rtlCol="0" anchor="ctr"/>
          <a:lstStyle/>
          <a:p>
            <a:pPr marL="0" indent="0" algn="ctr">
              <a:buNone/>
            </a:pPr>
            <a:r>
              <a:rPr lang="en-US" sz="2400" b="1" u="sng">
                <a:solidFill>
                  <a:schemeClr val="accent2"/>
                </a:solidFill>
              </a:rPr>
              <a:t>Target users, stakeholders, beneficiaries</a:t>
            </a:r>
            <a:endParaRPr lang="en-US" sz="2400" b="1" u="sng">
              <a:solidFill>
                <a:schemeClr val="accent2"/>
              </a:solidFill>
              <a:ea typeface="Calibri"/>
              <a:cs typeface="Calibri"/>
            </a:endParaRPr>
          </a:p>
        </p:txBody>
      </p:sp>
      <p:sp>
        <p:nvSpPr>
          <p:cNvPr id="10" name="Prompts"/>
          <p:cNvSpPr txBox="1"/>
          <p:nvPr/>
        </p:nvSpPr>
        <p:spPr>
          <a:xfrm>
            <a:off x="320885" y="1719522"/>
            <a:ext cx="11171782" cy="1847203"/>
          </a:xfrm>
          <a:prstGeom prst="rect">
            <a:avLst/>
          </a:prstGeom>
          <a:noFill/>
          <a:ln/>
        </p:spPr>
        <p:txBody>
          <a:bodyPr wrap="square" lIns="0" tIns="0" rIns="0" bIns="0" rtlCol="0" anchor="t"/>
          <a:lstStyle/>
          <a:p>
            <a:pPr marL="279400" indent="-279400">
              <a:spcAft>
                <a:spcPts val="1000"/>
              </a:spcAft>
              <a:buClr>
                <a:schemeClr val="accent1"/>
              </a:buClr>
              <a:buSzPct val="100000"/>
              <a:buFont typeface="Arial"/>
              <a:buChar char="•"/>
            </a:pPr>
            <a:r>
              <a:rPr lang="en-US" sz="2400" b="1">
                <a:solidFill>
                  <a:srgbClr val="0E2A2F"/>
                </a:solidFill>
              </a:rPr>
              <a:t>Primary users / target group:</a:t>
            </a:r>
            <a:endParaRPr lang="en-US" sz="2400" b="1">
              <a:solidFill>
                <a:srgbClr val="0E2A2F"/>
              </a:solidFill>
              <a:ea typeface="Calibri"/>
              <a:cs typeface="Calibri"/>
            </a:endParaRPr>
          </a:p>
          <a:p>
            <a:pPr marL="736600" lvl="1" indent="-279400">
              <a:spcAft>
                <a:spcPts val="1000"/>
              </a:spcAft>
              <a:buClr>
                <a:srgbClr val="026855"/>
              </a:buClr>
              <a:buSzPct val="100000"/>
              <a:buFont typeface="Arial"/>
              <a:buChar char="•"/>
            </a:pPr>
            <a:r>
              <a:rPr lang="en-US" sz="2000" b="1">
                <a:solidFill>
                  <a:srgbClr val="0E2A2F"/>
                </a:solidFill>
                <a:ea typeface="Calibri"/>
                <a:cs typeface="Calibri"/>
              </a:rPr>
              <a:t>Hostel residents:</a:t>
            </a:r>
            <a:r>
              <a:rPr lang="en-US" sz="2000">
                <a:solidFill>
                  <a:srgbClr val="0E2A2F"/>
                </a:solidFill>
                <a:ea typeface="Calibri"/>
                <a:cs typeface="Calibri"/>
              </a:rPr>
              <a:t> Students who travel off-campus for weekends, home visits, railway or bus stations.    </a:t>
            </a:r>
            <a:r>
              <a:rPr lang="en-US" sz="2000" b="1" i="1">
                <a:solidFill>
                  <a:srgbClr val="FF0000"/>
                </a:solidFill>
                <a:ea typeface="Calibri"/>
                <a:cs typeface="Calibri"/>
              </a:rPr>
              <a:t>Need</a:t>
            </a:r>
            <a:r>
              <a:rPr lang="en-US" sz="2000" i="1">
                <a:solidFill>
                  <a:srgbClr val="0E2A2F"/>
                </a:solidFill>
                <a:ea typeface="Calibri"/>
                <a:cs typeface="Calibri"/>
              </a:rPr>
              <a:t>:</a:t>
            </a:r>
            <a:r>
              <a:rPr lang="en-US" sz="2000">
                <a:solidFill>
                  <a:srgbClr val="0E2A2F"/>
                </a:solidFill>
                <a:ea typeface="Calibri"/>
                <a:cs typeface="Calibri"/>
              </a:rPr>
              <a:t> flexible, on-demand ride sharing at a low or zero cost.</a:t>
            </a:r>
            <a:endParaRPr lang="en-US">
              <a:solidFill>
                <a:srgbClr val="0E2A2F"/>
              </a:solidFill>
            </a:endParaRPr>
          </a:p>
          <a:p>
            <a:pPr marL="736600" lvl="1" indent="-279400">
              <a:spcAft>
                <a:spcPts val="1000"/>
              </a:spcAft>
              <a:buClr>
                <a:srgbClr val="026855"/>
              </a:buClr>
              <a:buSzPct val="100000"/>
              <a:buFont typeface="Arial"/>
              <a:buChar char="•"/>
            </a:pPr>
            <a:r>
              <a:rPr lang="en-US" sz="2000" b="1">
                <a:solidFill>
                  <a:srgbClr val="0E2A2F"/>
                </a:solidFill>
                <a:ea typeface="+mn-lt"/>
                <a:cs typeface="+mn-lt"/>
              </a:rPr>
              <a:t>Day-scholar commuters:</a:t>
            </a:r>
            <a:r>
              <a:rPr lang="en-US" sz="2000">
                <a:solidFill>
                  <a:srgbClr val="0E2A2F"/>
                </a:solidFill>
                <a:ea typeface="+mn-lt"/>
                <a:cs typeface="+mn-lt"/>
              </a:rPr>
              <a:t> Students who travel daily between home and campus.</a:t>
            </a:r>
            <a:endParaRPr lang="en-GB">
              <a:solidFill>
                <a:srgbClr val="0E2A2F"/>
              </a:solidFill>
              <a:ea typeface="+mn-lt"/>
              <a:cs typeface="+mn-lt"/>
            </a:endParaRPr>
          </a:p>
          <a:p>
            <a:pPr lvl="3">
              <a:spcAft>
                <a:spcPts val="1000"/>
              </a:spcAft>
            </a:pPr>
            <a:r>
              <a:rPr lang="en-US" sz="2000">
                <a:solidFill>
                  <a:srgbClr val="0E2A2F"/>
                </a:solidFill>
                <a:ea typeface="+mn-lt"/>
                <a:cs typeface="+mn-lt"/>
              </a:rPr>
              <a:t>          </a:t>
            </a:r>
            <a:r>
              <a:rPr lang="en-US" sz="2000" b="1" i="1">
                <a:solidFill>
                  <a:srgbClr val="FF0000"/>
                </a:solidFill>
                <a:ea typeface="+mn-lt"/>
                <a:cs typeface="+mn-lt"/>
              </a:rPr>
              <a:t>Need</a:t>
            </a:r>
            <a:r>
              <a:rPr lang="en-US" sz="2000" i="1">
                <a:solidFill>
                  <a:srgbClr val="0E2A2F"/>
                </a:solidFill>
                <a:ea typeface="+mn-lt"/>
                <a:cs typeface="+mn-lt"/>
              </a:rPr>
              <a:t>:</a:t>
            </a:r>
            <a:r>
              <a:rPr lang="en-US" sz="2000">
                <a:solidFill>
                  <a:srgbClr val="0E2A2F"/>
                </a:solidFill>
                <a:ea typeface="+mn-lt"/>
                <a:cs typeface="+mn-lt"/>
              </a:rPr>
              <a:t> predictable schedules, lower monthly commute cost, and reliable pick-up points.</a:t>
            </a:r>
            <a:endParaRPr lang="en-GB"/>
          </a:p>
          <a:p>
            <a:pPr lvl="3">
              <a:spcAft>
                <a:spcPts val="1000"/>
              </a:spcAft>
            </a:pPr>
            <a:endParaRPr lang="en-US" sz="2000">
              <a:solidFill>
                <a:srgbClr val="0E2A2F"/>
              </a:solidFill>
              <a:ea typeface="+mn-lt"/>
              <a:cs typeface="+mn-lt"/>
            </a:endParaRPr>
          </a:p>
          <a:p>
            <a:pPr marL="1714500" lvl="3" indent="-342900">
              <a:spcAft>
                <a:spcPts val="1000"/>
              </a:spcAft>
              <a:buFont typeface="Arial"/>
              <a:buChar char="•"/>
            </a:pPr>
            <a:endParaRPr lang="en-US" sz="2000">
              <a:ea typeface="Calibri"/>
              <a:cs typeface="Calibri"/>
            </a:endParaRPr>
          </a:p>
          <a:p>
            <a:pPr lvl="3">
              <a:spcAft>
                <a:spcPts val="1000"/>
              </a:spcAft>
            </a:pPr>
            <a:r>
              <a:rPr lang="en-US" sz="2000">
                <a:ea typeface="Calibri"/>
                <a:cs typeface="Calibri"/>
              </a:rPr>
              <a:t>                                            </a:t>
            </a:r>
            <a:endParaRPr lang="en-US"/>
          </a:p>
          <a:p>
            <a:pPr marL="736600" lvl="1" indent="-279400">
              <a:spcAft>
                <a:spcPts val="1000"/>
              </a:spcAft>
              <a:buClr>
                <a:schemeClr val="accent1"/>
              </a:buClr>
              <a:buSzPct val="100000"/>
              <a:buFont typeface="Arial"/>
              <a:buChar char="•"/>
            </a:pPr>
            <a:endParaRPr lang="en-US" sz="2000">
              <a:ea typeface="Calibri"/>
              <a:cs typeface="Calibri"/>
            </a:endParaRPr>
          </a:p>
          <a:p>
            <a:pPr marL="800100" lvl="1" indent="-342900">
              <a:spcAft>
                <a:spcPts val="1000"/>
              </a:spcAft>
              <a:buClr>
                <a:schemeClr val="accent1"/>
              </a:buClr>
              <a:buSzPct val="100000"/>
              <a:buFont typeface="Arial"/>
              <a:buChar char="•"/>
            </a:pPr>
            <a:endParaRPr lang="en-US" sz="2000">
              <a:ea typeface="Calibri"/>
              <a:cs typeface="Calibri"/>
            </a:endParaRPr>
          </a:p>
          <a:p>
            <a:pPr marL="279400" indent="-279400">
              <a:spcAft>
                <a:spcPts val="1000"/>
              </a:spcAft>
              <a:buClr>
                <a:schemeClr val="accent1"/>
              </a:buClr>
              <a:buSzPct val="100000"/>
              <a:buFont typeface="Arial"/>
              <a:buChar char="•"/>
            </a:pPr>
            <a:endParaRPr lang="en-US" sz="1800">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1</a:t>
            </a:fld>
            <a:endParaRPr lang="en-US"/>
          </a:p>
        </p:txBody>
      </p:sp>
      <p:sp>
        <p:nvSpPr>
          <p:cNvPr id="11" name="TextBox 10">
            <a:extLst>
              <a:ext uri="{FF2B5EF4-FFF2-40B4-BE49-F238E27FC236}">
                <a16:creationId xmlns:a16="http://schemas.microsoft.com/office/drawing/2014/main" id="{E9488D2C-F813-5D87-DFFC-D8288845A04E}"/>
              </a:ext>
            </a:extLst>
          </p:cNvPr>
          <p:cNvSpPr txBox="1"/>
          <p:nvPr/>
        </p:nvSpPr>
        <p:spPr>
          <a:xfrm>
            <a:off x="695570" y="3670007"/>
            <a:ext cx="10796577"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000" b="1">
                <a:ea typeface="Calibri"/>
                <a:cs typeface="Calibri"/>
              </a:rPr>
              <a:t>Student drivers (ride providers):</a:t>
            </a:r>
            <a:r>
              <a:rPr lang="en-GB" sz="2000">
                <a:ea typeface="Calibri"/>
                <a:cs typeface="Calibri"/>
              </a:rPr>
              <a:t> Students with cars or two-wheelers who offer empty seats.     </a:t>
            </a:r>
            <a:r>
              <a:rPr lang="en-GB" sz="2000">
                <a:solidFill>
                  <a:srgbClr val="0E2A2F"/>
                </a:solidFill>
                <a:ea typeface="Calibri"/>
                <a:cs typeface="Calibri"/>
              </a:rPr>
              <a:t>        </a:t>
            </a:r>
            <a:r>
              <a:rPr lang="en-GB" sz="2000" b="1" i="1">
                <a:solidFill>
                  <a:srgbClr val="FF0000"/>
                </a:solidFill>
                <a:ea typeface="Calibri"/>
                <a:cs typeface="Calibri"/>
              </a:rPr>
              <a:t>Need</a:t>
            </a:r>
            <a:r>
              <a:rPr lang="en-GB" sz="2000" i="1">
                <a:ea typeface="Calibri"/>
                <a:cs typeface="Calibri"/>
              </a:rPr>
              <a:t>:</a:t>
            </a:r>
            <a:r>
              <a:rPr lang="en-GB" sz="2000">
                <a:ea typeface="+mn-lt"/>
                <a:cs typeface="+mn-lt"/>
              </a:rPr>
              <a:t> fuel cost recovery, ride-matching with trusted peers, and control over who joins.</a:t>
            </a:r>
            <a:endParaRPr lang="en-US" sz="2000">
              <a:ea typeface="Calibri"/>
              <a:cs typeface="Calibri"/>
            </a:endParaRPr>
          </a:p>
          <a:p>
            <a:pPr marL="285750" lvl="3" indent="-285750">
              <a:buFont typeface="Arial"/>
              <a:buChar char="•"/>
            </a:pPr>
            <a:endParaRPr lang="en-GB" sz="2000">
              <a:ea typeface="Calibri"/>
              <a:cs typeface="Calibri"/>
            </a:endParaRPr>
          </a:p>
          <a:p>
            <a:pPr marL="342900" indent="-342900">
              <a:buFont typeface="Arial"/>
              <a:buChar char="•"/>
            </a:pPr>
            <a:endParaRPr lang="en-GB" sz="2000">
              <a:ea typeface="Calibri"/>
              <a:cs typeface="Calibri"/>
            </a:endParaRPr>
          </a:p>
        </p:txBody>
      </p:sp>
      <p:sp>
        <p:nvSpPr>
          <p:cNvPr id="12" name="TextBox 11">
            <a:extLst>
              <a:ext uri="{FF2B5EF4-FFF2-40B4-BE49-F238E27FC236}">
                <a16:creationId xmlns:a16="http://schemas.microsoft.com/office/drawing/2014/main" id="{286C98DF-B64F-0EEE-61B9-13B7CD0379BE}"/>
              </a:ext>
            </a:extLst>
          </p:cNvPr>
          <p:cNvSpPr txBox="1"/>
          <p:nvPr/>
        </p:nvSpPr>
        <p:spPr>
          <a:xfrm>
            <a:off x="320658" y="4675298"/>
            <a:ext cx="12048288"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GB" sz="2400" b="1">
                <a:solidFill>
                  <a:srgbClr val="2D3334"/>
                </a:solidFill>
                <a:highlight>
                  <a:srgbClr val="F5F5F5"/>
                </a:highlight>
                <a:ea typeface="Calibri"/>
                <a:cs typeface="Calibri"/>
              </a:rPr>
              <a:t>Secondary stakeholders:</a:t>
            </a:r>
            <a:endParaRPr lang="en-GB">
              <a:solidFill>
                <a:srgbClr val="0E2A2F"/>
              </a:solidFill>
              <a:ea typeface="Calibri"/>
              <a:cs typeface="Calibri"/>
            </a:endParaRPr>
          </a:p>
          <a:p>
            <a:pPr marL="742950" lvl="1" indent="-285750">
              <a:buFont typeface="Arial"/>
              <a:buChar char="•"/>
            </a:pPr>
            <a:r>
              <a:rPr lang="en-GB" sz="2000" b="1">
                <a:solidFill>
                  <a:srgbClr val="2D3334"/>
                </a:solidFill>
                <a:highlight>
                  <a:srgbClr val="F5F5F5"/>
                </a:highlight>
                <a:ea typeface="+mn-lt"/>
                <a:cs typeface="+mn-lt"/>
              </a:rPr>
              <a:t>First-year and out-of-state students:</a:t>
            </a:r>
            <a:r>
              <a:rPr lang="en-GB" sz="2000">
                <a:solidFill>
                  <a:srgbClr val="2D3334"/>
                </a:solidFill>
                <a:highlight>
                  <a:srgbClr val="F5F5F5"/>
                </a:highlight>
                <a:ea typeface="+mn-lt"/>
                <a:cs typeface="+mn-lt"/>
              </a:rPr>
              <a:t> Newcomers who are unfamiliar with local transport and benefit most from trusted ride networks.</a:t>
            </a:r>
            <a:r>
              <a:rPr lang="en-GB" sz="2000" b="1">
                <a:solidFill>
                  <a:srgbClr val="2D3334"/>
                </a:solidFill>
                <a:highlight>
                  <a:srgbClr val="F5F5F5"/>
                </a:highlight>
                <a:ea typeface="Calibri"/>
                <a:cs typeface="Calibri"/>
              </a:rPr>
              <a:t>  </a:t>
            </a:r>
            <a:endParaRPr lang="en-GB" sz="2000">
              <a:solidFill>
                <a:srgbClr val="0E2A2F"/>
              </a:solidFill>
              <a:ea typeface="Calibri"/>
              <a:cs typeface="Calibri"/>
            </a:endParaRPr>
          </a:p>
          <a:p>
            <a:pPr marL="742950" lvl="1" indent="-285750">
              <a:buFont typeface="Arial"/>
              <a:buChar char="•"/>
            </a:pPr>
            <a:r>
              <a:rPr lang="en-GB" sz="2000" b="1">
                <a:solidFill>
                  <a:srgbClr val="2D3334"/>
                </a:solidFill>
                <a:highlight>
                  <a:srgbClr val="F5F5F5"/>
                </a:highlight>
                <a:ea typeface="+mn-lt"/>
                <a:cs typeface="+mn-lt"/>
              </a:rPr>
              <a:t>Faculty and non-teaching staff:</a:t>
            </a:r>
            <a:r>
              <a:rPr lang="en-GB" sz="2000">
                <a:solidFill>
                  <a:srgbClr val="2D3334"/>
                </a:solidFill>
                <a:highlight>
                  <a:srgbClr val="F5F5F5"/>
                </a:highlight>
                <a:ea typeface="+mn-lt"/>
                <a:cs typeface="+mn-lt"/>
              </a:rPr>
              <a:t> Regular commuters who can anchor stable, recurring carpool routes.</a:t>
            </a:r>
            <a:r>
              <a:rPr lang="en-GB" sz="2000" b="1">
                <a:solidFill>
                  <a:srgbClr val="2D3334"/>
                </a:solidFill>
                <a:highlight>
                  <a:srgbClr val="F5F5F5"/>
                </a:highlight>
                <a:ea typeface="Calibri"/>
                <a:cs typeface="Calibri"/>
              </a:rPr>
              <a:t>    </a:t>
            </a:r>
            <a:endParaRPr lang="en-GB" sz="2000">
              <a:ea typeface="Calibri"/>
              <a:cs typeface="Calibri"/>
            </a:endParaRPr>
          </a:p>
          <a:p>
            <a:pPr marL="742950" lvl="1" indent="-285750">
              <a:buFont typeface="Arial"/>
              <a:buChar char="•"/>
            </a:pPr>
            <a:endParaRPr lang="en-GB" sz="2000" b="1">
              <a:solidFill>
                <a:srgbClr val="2D3334"/>
              </a:solidFill>
              <a:highlight>
                <a:srgbClr val="F5F5F5"/>
              </a:highlight>
              <a:ea typeface="Calibri"/>
              <a:cs typeface="Calibri"/>
            </a:endParaRPr>
          </a:p>
          <a:p>
            <a:pPr marL="285750" indent="-285750">
              <a:buFont typeface="Arial"/>
              <a:buChar char="•"/>
            </a:pPr>
            <a:endParaRPr lang="en-GB" sz="2400" b="1">
              <a:solidFill>
                <a:srgbClr val="2D3334"/>
              </a:solidFill>
              <a:highlight>
                <a:srgbClr val="F5F5F5"/>
              </a:highlight>
              <a:ea typeface="Calibri"/>
              <a:cs typeface="Calibri"/>
            </a:endParaRPr>
          </a:p>
          <a:p>
            <a:pPr marL="800100" lvl="1" indent="-342900">
              <a:buFont typeface="Arial"/>
              <a:buChar char="•"/>
            </a:pPr>
            <a:endParaRPr lang="en-GB" sz="2400" b="1">
              <a:solidFill>
                <a:srgbClr val="2D3334"/>
              </a:solidFill>
              <a:highlight>
                <a:srgbClr val="F5F5F5"/>
              </a:highlight>
              <a:ea typeface="Calibri"/>
              <a:cs typeface="Calibri"/>
            </a:endParaRPr>
          </a:p>
          <a:p>
            <a:pPr marL="285750" indent="-285750">
              <a:buFont typeface="Arial"/>
              <a:buChar char="•"/>
            </a:pPr>
            <a:endParaRPr lang="en-GB" sz="2400" b="1">
              <a:solidFill>
                <a:srgbClr val="2D3334"/>
              </a:solidFill>
              <a:highlight>
                <a:srgbClr val="F5F5F5"/>
              </a:highlight>
              <a:ea typeface="Calibri"/>
              <a:cs typeface="Calibri"/>
            </a:endParaRPr>
          </a:p>
          <a:p>
            <a:endParaRPr lang="en-GB">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7">
            <a:extLst>
              <a:ext uri="{FF2B5EF4-FFF2-40B4-BE49-F238E27FC236}">
                <a16:creationId xmlns:a16="http://schemas.microsoft.com/office/drawing/2014/main" id="{6AB10D90-4592-530B-0CD6-ADE8AAFADDEC}"/>
              </a:ext>
            </a:extLst>
          </p:cNvPr>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WHO IS AFFECTED?</a:t>
            </a:r>
            <a:endParaRPr lang="en-US" sz="2400"/>
          </a:p>
        </p:txBody>
      </p:sp>
      <p:sp>
        <p:nvSpPr>
          <p:cNvPr id="10" name="Team Badge">
            <a:extLst>
              <a:ext uri="{FF2B5EF4-FFF2-40B4-BE49-F238E27FC236}">
                <a16:creationId xmlns:a16="http://schemas.microsoft.com/office/drawing/2014/main" id="{0BE4ABED-C7BA-6E59-0B64-E2D1AD4B14E4}"/>
              </a:ext>
            </a:extLst>
          </p:cNvPr>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12" name="Team Icon Hex">
            <a:extLst>
              <a:ext uri="{FF2B5EF4-FFF2-40B4-BE49-F238E27FC236}">
                <a16:creationId xmlns:a16="http://schemas.microsoft.com/office/drawing/2014/main" id="{9960EA14-87D4-DD13-B5B3-A527DE757054}"/>
              </a:ext>
            </a:extLst>
          </p:cNvPr>
          <p:cNvSpPr/>
          <p:nvPr/>
        </p:nvSpPr>
        <p:spPr>
          <a:xfrm>
            <a:off x="603504" y="457200"/>
            <a:ext cx="630936" cy="548640"/>
          </a:xfrm>
          <a:prstGeom prst="hexagon">
            <a:avLst/>
          </a:prstGeom>
          <a:solidFill>
            <a:schemeClr val="bg2"/>
          </a:solidFill>
          <a:ln w="9525">
            <a:solidFill>
              <a:schemeClr val="accent6"/>
            </a:solidFill>
            <a:prstDash val="solid"/>
          </a:ln>
        </p:spPr>
      </p:sp>
      <p:pic>
        <p:nvPicPr>
          <p:cNvPr id="14" name="Team Icon" descr="Team icon">
            <a:extLst>
              <a:ext uri="{FF2B5EF4-FFF2-40B4-BE49-F238E27FC236}">
                <a16:creationId xmlns:a16="http://schemas.microsoft.com/office/drawing/2014/main" id="{71E830DE-70A0-24DA-D6B5-28259DEB4057}"/>
              </a:ext>
            </a:extLst>
          </p:cNvPr>
          <p:cNvPicPr>
            <a:picLocks noChangeAspect="1"/>
          </p:cNvPicPr>
          <p:nvPr/>
        </p:nvPicPr>
        <p:blipFill>
          <a:blip r:embed="rId2"/>
          <a:stretch>
            <a:fillRect/>
          </a:stretch>
        </p:blipFill>
        <p:spPr>
          <a:xfrm>
            <a:off x="736092" y="548640"/>
            <a:ext cx="365760" cy="365760"/>
          </a:xfrm>
          <a:prstGeom prst="rect">
            <a:avLst/>
          </a:prstGeom>
        </p:spPr>
      </p:pic>
      <p:sp>
        <p:nvSpPr>
          <p:cNvPr id="16" name="Team Name">
            <a:extLst>
              <a:ext uri="{FF2B5EF4-FFF2-40B4-BE49-F238E27FC236}">
                <a16:creationId xmlns:a16="http://schemas.microsoft.com/office/drawing/2014/main" id="{8408B2A0-2D33-9D0A-0B92-AAB2036AB4D9}"/>
              </a:ext>
            </a:extLst>
          </p:cNvPr>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a:solidFill>
                  <a:schemeClr val="accent5"/>
                </a:solidFill>
              </a:rPr>
              <a:t>TEAM</a:t>
            </a:r>
            <a:endParaRPr lang="en-US" sz="900"/>
          </a:p>
          <a:p>
            <a:r>
              <a:rPr lang="en-US" sz="1500" b="1">
                <a:solidFill>
                  <a:schemeClr val="accent1"/>
                </a:solidFill>
                <a:ea typeface="Calibri"/>
                <a:cs typeface="Calibri"/>
              </a:rPr>
              <a:t>Binary Brains</a:t>
            </a:r>
          </a:p>
        </p:txBody>
      </p:sp>
      <p:sp>
        <p:nvSpPr>
          <p:cNvPr id="4" name="Lead Icon Hex">
            <a:extLst>
              <a:ext uri="{FF2B5EF4-FFF2-40B4-BE49-F238E27FC236}">
                <a16:creationId xmlns:a16="http://schemas.microsoft.com/office/drawing/2014/main" id="{34483985-E94C-3636-64AA-2B6A72688307}"/>
              </a:ext>
            </a:extLst>
          </p:cNvPr>
          <p:cNvSpPr/>
          <p:nvPr/>
        </p:nvSpPr>
        <p:spPr>
          <a:xfrm>
            <a:off x="577577" y="1202610"/>
            <a:ext cx="457200" cy="395935"/>
          </a:xfrm>
          <a:prstGeom prst="hexagon">
            <a:avLst/>
          </a:prstGeom>
          <a:solidFill>
            <a:schemeClr val="accent3"/>
          </a:solidFill>
          <a:ln/>
        </p:spPr>
      </p:sp>
      <p:pic>
        <p:nvPicPr>
          <p:cNvPr id="7" name="Lead Icon" descr="Lightbulb icon">
            <a:extLst>
              <a:ext uri="{FF2B5EF4-FFF2-40B4-BE49-F238E27FC236}">
                <a16:creationId xmlns:a16="http://schemas.microsoft.com/office/drawing/2014/main" id="{80379E49-9729-8566-29B2-34AC83A28C19}"/>
              </a:ext>
            </a:extLst>
          </p:cNvPr>
          <p:cNvPicPr>
            <a:picLocks noChangeAspect="1"/>
          </p:cNvPicPr>
          <p:nvPr/>
        </p:nvPicPr>
        <p:blipFill>
          <a:blip r:embed="rId3"/>
          <a:stretch>
            <a:fillRect/>
          </a:stretch>
        </p:blipFill>
        <p:spPr>
          <a:xfrm>
            <a:off x="669017" y="1262960"/>
            <a:ext cx="274320" cy="274320"/>
          </a:xfrm>
          <a:prstGeom prst="rect">
            <a:avLst/>
          </a:prstGeom>
        </p:spPr>
      </p:pic>
      <p:sp>
        <p:nvSpPr>
          <p:cNvPr id="9" name="Lead Text">
            <a:extLst>
              <a:ext uri="{FF2B5EF4-FFF2-40B4-BE49-F238E27FC236}">
                <a16:creationId xmlns:a16="http://schemas.microsoft.com/office/drawing/2014/main" id="{80A0AF05-AB66-1601-2FB1-484ED4F790D1}"/>
              </a:ext>
            </a:extLst>
          </p:cNvPr>
          <p:cNvSpPr txBox="1"/>
          <p:nvPr/>
        </p:nvSpPr>
        <p:spPr>
          <a:xfrm>
            <a:off x="1102913" y="1214763"/>
            <a:ext cx="9601200" cy="502920"/>
          </a:xfrm>
          <a:prstGeom prst="rect">
            <a:avLst/>
          </a:prstGeom>
          <a:noFill/>
          <a:ln/>
        </p:spPr>
        <p:txBody>
          <a:bodyPr wrap="square" lIns="0" tIns="0" rIns="0" bIns="0" rtlCol="0" anchor="ctr"/>
          <a:lstStyle/>
          <a:p>
            <a:pPr marL="0" indent="0" algn="ctr">
              <a:buNone/>
            </a:pPr>
            <a:r>
              <a:rPr lang="en-US" sz="2400" b="1" u="sng">
                <a:solidFill>
                  <a:schemeClr val="accent2"/>
                </a:solidFill>
              </a:rPr>
              <a:t>Target users, stakeholders, beneficiaries</a:t>
            </a:r>
            <a:endParaRPr lang="en-US" sz="2400" b="1" u="sng">
              <a:solidFill>
                <a:schemeClr val="accent2"/>
              </a:solidFill>
              <a:ea typeface="Calibri"/>
              <a:cs typeface="Calibri"/>
            </a:endParaRPr>
          </a:p>
        </p:txBody>
      </p:sp>
      <p:sp>
        <p:nvSpPr>
          <p:cNvPr id="13" name="TextBox 12">
            <a:extLst>
              <a:ext uri="{FF2B5EF4-FFF2-40B4-BE49-F238E27FC236}">
                <a16:creationId xmlns:a16="http://schemas.microsoft.com/office/drawing/2014/main" id="{C7B45154-171D-3C85-D1A9-E158CDA45049}"/>
              </a:ext>
            </a:extLst>
          </p:cNvPr>
          <p:cNvSpPr txBox="1"/>
          <p:nvPr/>
        </p:nvSpPr>
        <p:spPr>
          <a:xfrm>
            <a:off x="395468" y="1750671"/>
            <a:ext cx="11989443"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Who benefits if the problem is solved?​ :</a:t>
            </a:r>
          </a:p>
          <a:p>
            <a:pPr marL="342900" indent="-342900">
              <a:buFont typeface="Arial"/>
              <a:buChar char="•"/>
            </a:pPr>
            <a:endParaRPr lang="en-US" sz="2400" b="1">
              <a:ea typeface="Calibri"/>
              <a:cs typeface="Calibri"/>
            </a:endParaRPr>
          </a:p>
          <a:p>
            <a:pPr marL="342900" indent="-342900">
              <a:buFont typeface="Arial"/>
              <a:buChar char="•"/>
            </a:pPr>
            <a:r>
              <a:rPr lang="en-US" sz="2000" b="1">
                <a:ea typeface="Calibri"/>
                <a:cs typeface="Calibri"/>
              </a:rPr>
              <a:t>Students (direct beneficiaries) : </a:t>
            </a:r>
            <a:r>
              <a:rPr lang="en-US" sz="2000">
                <a:ea typeface="Calibri"/>
                <a:cs typeface="Calibri"/>
              </a:rPr>
              <a:t>Students save money and time on every trip, whether they ride or drive, while building a stronger campus community.</a:t>
            </a:r>
            <a:endParaRPr lang="en-US" sz="2000" b="1">
              <a:solidFill>
                <a:srgbClr val="000000"/>
              </a:solidFill>
              <a:ea typeface="Calibri"/>
              <a:cs typeface="Calibri"/>
            </a:endParaRPr>
          </a:p>
          <a:p>
            <a:pPr marL="342900" indent="-342900">
              <a:buFont typeface="Arial"/>
              <a:buChar char="•"/>
            </a:pPr>
            <a:endParaRPr lang="en-US" sz="2000" b="1">
              <a:ea typeface="Calibri"/>
              <a:cs typeface="Calibri"/>
            </a:endParaRPr>
          </a:p>
          <a:p>
            <a:pPr marL="342900" indent="-342900">
              <a:buFont typeface="Arial"/>
              <a:buChar char="•"/>
            </a:pPr>
            <a:r>
              <a:rPr lang="en-US" sz="2000" b="1">
                <a:ea typeface="Calibri"/>
                <a:cs typeface="Calibri"/>
              </a:rPr>
              <a:t>University administration : </a:t>
            </a:r>
            <a:r>
              <a:rPr lang="en-US" sz="2000">
                <a:ea typeface="Calibri"/>
                <a:cs typeface="Calibri"/>
              </a:rPr>
              <a:t>The university gains less traffic, safer student travel, better punctuality, and a measurable sustainability record.</a:t>
            </a:r>
          </a:p>
          <a:p>
            <a:pPr marL="342900" indent="-342900">
              <a:buFont typeface="Arial"/>
              <a:buChar char="•"/>
            </a:pPr>
            <a:endParaRPr lang="en-US" sz="2000">
              <a:ea typeface="Calibri"/>
              <a:cs typeface="Calibri"/>
            </a:endParaRPr>
          </a:p>
          <a:p>
            <a:pPr marL="342900" indent="-342900">
              <a:buFont typeface="Arial"/>
              <a:buChar char="•"/>
            </a:pPr>
            <a:r>
              <a:rPr lang="en-US" sz="2000" b="1">
                <a:ea typeface="Calibri"/>
                <a:cs typeface="Calibri"/>
              </a:rPr>
              <a:t>Transport departmen</a:t>
            </a:r>
            <a:r>
              <a:rPr lang="en-US" sz="2000">
                <a:ea typeface="Calibri"/>
                <a:cs typeface="Calibri"/>
              </a:rPr>
              <a:t>t : Finally, data tells us where the buses should be, instead of students tracking them down by word of mouth, while carpooling quietly covers the gaps without competing with the existing services.</a:t>
            </a:r>
          </a:p>
          <a:p>
            <a:pPr marL="342900" indent="-342900">
              <a:buFont typeface="Arial"/>
              <a:buChar char="•"/>
            </a:pPr>
            <a:endParaRPr lang="en-US" sz="2000">
              <a:ea typeface="Calibri"/>
              <a:cs typeface="Calibri"/>
            </a:endParaRPr>
          </a:p>
          <a:p>
            <a:pPr marL="342900" indent="-342900">
              <a:buFont typeface="Arial"/>
              <a:buChar char="•"/>
            </a:pPr>
            <a:endParaRPr lang="en-US" sz="2000">
              <a:ea typeface="Calibri"/>
              <a:cs typeface="Calibri"/>
            </a:endParaRPr>
          </a:p>
          <a:p>
            <a:pPr marL="342900" indent="-342900">
              <a:buFont typeface="Arial"/>
              <a:buChar char="•"/>
            </a:pPr>
            <a:endParaRPr lang="en-US" sz="2000">
              <a:ea typeface="Calibri"/>
              <a:cs typeface="Calibri"/>
            </a:endParaRPr>
          </a:p>
          <a:p>
            <a:pPr marL="342900" indent="-342900">
              <a:buFont typeface="Arial"/>
              <a:buChar char="•"/>
            </a:pPr>
            <a:endParaRPr lang="en-US" sz="2000" b="1">
              <a:ea typeface="Calibri"/>
              <a:cs typeface="Calibri"/>
            </a:endParaRPr>
          </a:p>
          <a:p>
            <a:pPr marL="342900" indent="-342900">
              <a:buFont typeface="Arial"/>
              <a:buChar char="•"/>
            </a:pPr>
            <a:endParaRPr lang="en-US" sz="2400" b="1">
              <a:ea typeface="Calibri"/>
              <a:cs typeface="Calibri"/>
            </a:endParaRPr>
          </a:p>
        </p:txBody>
      </p:sp>
    </p:spTree>
    <p:extLst>
      <p:ext uri="{BB962C8B-B14F-4D97-AF65-F5344CB8AC3E}">
        <p14:creationId xmlns:p14="http://schemas.microsoft.com/office/powerpoint/2010/main" val="2511704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35251-7536-5866-56D6-40D43E53E997}"/>
            </a:ext>
          </a:extLst>
        </p:cNvPr>
        <p:cNvGrpSpPr/>
        <p:nvPr/>
      </p:nvGrpSpPr>
      <p:grpSpPr>
        <a:xfrm>
          <a:off x="0" y="0"/>
          <a:ext cx="0" cy="0"/>
          <a:chOff x="0" y="0"/>
          <a:chExt cx="0" cy="0"/>
        </a:xfrm>
      </p:grpSpPr>
      <p:sp>
        <p:nvSpPr>
          <p:cNvPr id="2" name="Text 7">
            <a:extLst>
              <a:ext uri="{FF2B5EF4-FFF2-40B4-BE49-F238E27FC236}">
                <a16:creationId xmlns:a16="http://schemas.microsoft.com/office/drawing/2014/main" id="{E80D60D1-08BE-E818-D5A3-0E11648BE0E5}"/>
              </a:ext>
            </a:extLst>
          </p:cNvPr>
          <p:cNvSpPr>
            <a:spLocks noGrp="1"/>
          </p:cNvSpPr>
          <p:nvPr>
            <p:ph type="title" idx="108" hasCustomPrompt="1"/>
          </p:nvPr>
        </p:nvSpPr>
        <p:spPr>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CURRENT SITUATION &amp; CONTEXT</a:t>
            </a:r>
            <a:endParaRPr lang="en-US" sz="2400"/>
          </a:p>
        </p:txBody>
      </p:sp>
      <p:sp>
        <p:nvSpPr>
          <p:cNvPr id="25" name="Slide Number Placeholder 0">
            <a:extLst>
              <a:ext uri="{FF2B5EF4-FFF2-40B4-BE49-F238E27FC236}">
                <a16:creationId xmlns:a16="http://schemas.microsoft.com/office/drawing/2014/main" id="{6980F403-9035-0BAF-FF11-1D60B71FB01B}"/>
              </a:ext>
            </a:extLst>
          </p:cNvPr>
          <p:cNvSpPr>
            <a:spLocks noGrp="1"/>
          </p:cNvSpPr>
          <p:nvPr>
            <p:ph type="sldNum" sz="quarter" idx="4294967295"/>
          </p:nvPr>
        </p:nvSpPr>
        <p:spPr>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
        <p:nvSpPr>
          <p:cNvPr id="3" name="Team Badge">
            <a:extLst>
              <a:ext uri="{FF2B5EF4-FFF2-40B4-BE49-F238E27FC236}">
                <a16:creationId xmlns:a16="http://schemas.microsoft.com/office/drawing/2014/main" id="{EFCE5680-DEFA-06B1-DE81-E4925628D467}"/>
              </a:ext>
            </a:extLst>
          </p:cNvPr>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a:extLst>
              <a:ext uri="{FF2B5EF4-FFF2-40B4-BE49-F238E27FC236}">
                <a16:creationId xmlns:a16="http://schemas.microsoft.com/office/drawing/2014/main" id="{60E91875-58E2-6AAF-07D5-BE23001B870A}"/>
              </a:ext>
            </a:extLst>
          </p:cNvPr>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a:extLst>
              <a:ext uri="{FF2B5EF4-FFF2-40B4-BE49-F238E27FC236}">
                <a16:creationId xmlns:a16="http://schemas.microsoft.com/office/drawing/2014/main" id="{BD6427DA-4883-1634-501B-95B150ECF012}"/>
              </a:ext>
            </a:extLst>
          </p:cNvPr>
          <p:cNvPicPr>
            <a:picLocks noChangeAspect="1"/>
          </p:cNvPicPr>
          <p:nvPr/>
        </p:nvPicPr>
        <p:blipFill>
          <a:blip r:embed="rId3"/>
          <a:stretch>
            <a:fillRect/>
          </a:stretch>
        </p:blipFill>
        <p:spPr>
          <a:xfrm>
            <a:off x="736092" y="548640"/>
            <a:ext cx="365760" cy="365760"/>
          </a:xfrm>
          <a:prstGeom prst="rect">
            <a:avLst/>
          </a:prstGeom>
        </p:spPr>
      </p:pic>
      <p:sp>
        <p:nvSpPr>
          <p:cNvPr id="9" name="Lead Text">
            <a:extLst>
              <a:ext uri="{FF2B5EF4-FFF2-40B4-BE49-F238E27FC236}">
                <a16:creationId xmlns:a16="http://schemas.microsoft.com/office/drawing/2014/main" id="{08E59675-FE33-9CE1-F5DF-FD7A42756725}"/>
              </a:ext>
            </a:extLst>
          </p:cNvPr>
          <p:cNvSpPr txBox="1"/>
          <p:nvPr/>
        </p:nvSpPr>
        <p:spPr>
          <a:xfrm>
            <a:off x="452315" y="1083989"/>
            <a:ext cx="11639561" cy="5323564"/>
          </a:xfrm>
          <a:prstGeom prst="rect">
            <a:avLst/>
          </a:prstGeom>
          <a:noFill/>
          <a:ln/>
        </p:spPr>
        <p:txBody>
          <a:bodyPr wrap="square" lIns="0" tIns="0" rIns="0" bIns="0" rtlCol="0" anchor="t"/>
          <a:lstStyle/>
          <a:p>
            <a:r>
              <a:rPr lang="en-US" sz="2400" b="1" u="sng">
                <a:solidFill>
                  <a:schemeClr val="accent2"/>
                </a:solidFill>
              </a:rPr>
              <a:t>1)Existing Scenario:</a:t>
            </a:r>
            <a:endParaRPr lang="en-US" sz="2400" b="1" u="sng">
              <a:solidFill>
                <a:schemeClr val="accent2"/>
              </a:solidFill>
              <a:ea typeface="Calibri"/>
              <a:cs typeface="Calibri"/>
            </a:endParaRPr>
          </a:p>
          <a:p>
            <a:r>
              <a:rPr lang="en-US" sz="2000" b="1">
                <a:solidFill>
                  <a:srgbClr val="0E2A2F"/>
                </a:solidFill>
                <a:ea typeface="+mn-lt"/>
                <a:cs typeface="+mn-lt"/>
              </a:rPr>
              <a:t>A. Train Travel:</a:t>
            </a:r>
            <a:r>
              <a:rPr lang="en-US" sz="2000">
                <a:solidFill>
                  <a:srgbClr val="0E2A2F"/>
                </a:solidFill>
                <a:ea typeface="+mn-lt"/>
                <a:cs typeface="+mn-lt"/>
              </a:rPr>
              <a:t> The railway station is located near the campus entrance, but train delays can disrupt travel plans.</a:t>
            </a:r>
            <a:endParaRPr lang="en-US" sz="2000">
              <a:ea typeface="Calibri"/>
              <a:cs typeface="Calibri"/>
            </a:endParaRPr>
          </a:p>
          <a:p>
            <a:r>
              <a:rPr lang="en-US" sz="2000" b="1">
                <a:solidFill>
                  <a:srgbClr val="0E2A2F"/>
                </a:solidFill>
                <a:ea typeface="+mn-lt"/>
                <a:cs typeface="+mn-lt"/>
              </a:rPr>
              <a:t>B. Schedule Conflicts:</a:t>
            </a:r>
            <a:r>
              <a:rPr lang="en-US" sz="2000">
                <a:solidFill>
                  <a:srgbClr val="0E2A2F"/>
                </a:solidFill>
                <a:ea typeface="+mn-lt"/>
                <a:cs typeface="+mn-lt"/>
              </a:rPr>
              <a:t> Train timings sometimes clash with class schedules, limiting students’ ability to use rail transport conveniently.</a:t>
            </a:r>
            <a:endParaRPr lang="en-US" sz="2000">
              <a:ea typeface="Calibri"/>
              <a:cs typeface="Calibri"/>
            </a:endParaRPr>
          </a:p>
          <a:p>
            <a:r>
              <a:rPr lang="en-US" sz="2000" b="1">
                <a:solidFill>
                  <a:srgbClr val="0E2A2F"/>
                </a:solidFill>
                <a:ea typeface="+mn-lt"/>
                <a:cs typeface="+mn-lt"/>
              </a:rPr>
              <a:t>C. Cabs:</a:t>
            </a:r>
            <a:r>
              <a:rPr lang="en-US" sz="2000">
                <a:solidFill>
                  <a:srgbClr val="0E2A2F"/>
                </a:solidFill>
                <a:ea typeface="+mn-lt"/>
                <a:cs typeface="+mn-lt"/>
              </a:rPr>
              <a:t> Students rely on services like Uber, Ola, and Red Taxi to reach railway stations, bus stands, and other destinations.</a:t>
            </a:r>
            <a:endParaRPr lang="en-US" sz="2000">
              <a:ea typeface="Calibri"/>
              <a:cs typeface="Calibri"/>
            </a:endParaRPr>
          </a:p>
          <a:p>
            <a:r>
              <a:rPr lang="en-US" sz="2000" b="1">
                <a:solidFill>
                  <a:srgbClr val="0E2A2F"/>
                </a:solidFill>
                <a:ea typeface="+mn-lt"/>
                <a:cs typeface="+mn-lt"/>
              </a:rPr>
              <a:t>D. Personal Transport:</a:t>
            </a:r>
            <a:r>
              <a:rPr lang="en-US" sz="2000">
                <a:solidFill>
                  <a:srgbClr val="0E2A2F"/>
                </a:solidFill>
                <a:ea typeface="+mn-lt"/>
                <a:cs typeface="+mn-lt"/>
              </a:rPr>
              <a:t> Travelling with friends or students who own personal vehicles is an option, but availability is limited.</a:t>
            </a:r>
            <a:endParaRPr lang="en-US" sz="2000">
              <a:ea typeface="Calibri"/>
              <a:cs typeface="Calibri"/>
            </a:endParaRPr>
          </a:p>
          <a:p>
            <a:r>
              <a:rPr lang="en-US" sz="2000" b="1">
                <a:solidFill>
                  <a:srgbClr val="0E2A2F"/>
                </a:solidFill>
                <a:ea typeface="+mn-lt"/>
                <a:cs typeface="+mn-lt"/>
              </a:rPr>
              <a:t>E. Ride-Sharing:</a:t>
            </a:r>
            <a:r>
              <a:rPr lang="en-US" sz="2000">
                <a:solidFill>
                  <a:srgbClr val="0E2A2F"/>
                </a:solidFill>
                <a:ea typeface="+mn-lt"/>
                <a:cs typeface="+mn-lt"/>
              </a:rPr>
              <a:t> Students search for fellow </a:t>
            </a:r>
            <a:r>
              <a:rPr lang="en-US" sz="2000" err="1">
                <a:solidFill>
                  <a:srgbClr val="0E2A2F"/>
                </a:solidFill>
                <a:ea typeface="+mn-lt"/>
                <a:cs typeface="+mn-lt"/>
              </a:rPr>
              <a:t>travellers</a:t>
            </a:r>
            <a:r>
              <a:rPr lang="en-US" sz="2000">
                <a:solidFill>
                  <a:srgbClr val="0E2A2F"/>
                </a:solidFill>
                <a:ea typeface="+mn-lt"/>
                <a:cs typeface="+mn-lt"/>
              </a:rPr>
              <a:t> heading to the same destination to share cab fares, but finding and coordinating with them can be difficult.</a:t>
            </a:r>
            <a:endParaRPr lang="en-US" sz="2000">
              <a:ea typeface="Calibri"/>
              <a:cs typeface="Calibri"/>
            </a:endParaRPr>
          </a:p>
          <a:p>
            <a:r>
              <a:rPr lang="en-US" sz="2000" b="1">
                <a:solidFill>
                  <a:srgbClr val="0E2A2F"/>
                </a:solidFill>
                <a:ea typeface="+mn-lt"/>
                <a:cs typeface="+mn-lt"/>
              </a:rPr>
              <a:t>F. Holiday Rush:</a:t>
            </a:r>
            <a:r>
              <a:rPr lang="en-US" sz="2000">
                <a:solidFill>
                  <a:srgbClr val="0E2A2F"/>
                </a:solidFill>
                <a:ea typeface="+mn-lt"/>
                <a:cs typeface="+mn-lt"/>
              </a:rPr>
              <a:t> During holidays, large numbers of students travel simultaneously, causing overcrowded trains and congestion from cabs and private vehicles at the campus entrance.</a:t>
            </a:r>
            <a:endParaRPr lang="en-US" sz="2000">
              <a:ea typeface="Calibri"/>
              <a:cs typeface="Calibri"/>
            </a:endParaRPr>
          </a:p>
          <a:p>
            <a:endParaRPr lang="en-US" sz="2400" b="1" u="sng">
              <a:solidFill>
                <a:srgbClr val="0E2A2F"/>
              </a:solidFill>
              <a:ea typeface="Calibri"/>
              <a:cs typeface="Calibri"/>
            </a:endParaRPr>
          </a:p>
          <a:p>
            <a:r>
              <a:rPr lang="en-US" sz="2400" b="1" u="sng">
                <a:solidFill>
                  <a:schemeClr val="accent2"/>
                </a:solidFill>
                <a:ea typeface="Calibri"/>
                <a:cs typeface="Calibri"/>
              </a:rPr>
              <a:t>2)Current Workflow:</a:t>
            </a:r>
          </a:p>
          <a:p>
            <a:r>
              <a:rPr lang="en-US" sz="2400" b="1" u="sng">
                <a:ea typeface="Calibri"/>
                <a:cs typeface="Calibri"/>
              </a:rPr>
              <a:t>                 </a:t>
            </a:r>
            <a:r>
              <a:rPr lang="en-US" sz="2400" u="sng">
                <a:ea typeface="Calibri"/>
                <a:cs typeface="Calibri"/>
              </a:rPr>
              <a:t>  </a:t>
            </a:r>
            <a:r>
              <a:rPr lang="en-US" sz="2000" u="sng">
                <a:ea typeface="Calibri"/>
                <a:cs typeface="Calibri"/>
              </a:rPr>
              <a:t> </a:t>
            </a:r>
            <a:r>
              <a:rPr lang="en-US" sz="2000">
                <a:ea typeface="+mn-lt"/>
                <a:cs typeface="+mn-lt"/>
              </a:rPr>
              <a:t>Identify need → Find co-</a:t>
            </a:r>
            <a:r>
              <a:rPr lang="en-US" sz="2000" err="1">
                <a:ea typeface="+mn-lt"/>
                <a:cs typeface="+mn-lt"/>
              </a:rPr>
              <a:t>travellers</a:t>
            </a:r>
            <a:r>
              <a:rPr lang="en-US" sz="2000">
                <a:ea typeface="+mn-lt"/>
                <a:cs typeface="+mn-lt"/>
              </a:rPr>
              <a:t> → Coordinate pickup → Share a ride → Split costs</a:t>
            </a:r>
            <a:br>
              <a:rPr lang="en-US" sz="2000" b="1" u="sng">
                <a:ea typeface="Calibri"/>
                <a:cs typeface="Calibri"/>
              </a:rPr>
            </a:br>
            <a:endParaRPr lang="en-US" sz="2000" b="1" u="sng">
              <a:ea typeface="Calibri"/>
              <a:cs typeface="Calibri"/>
            </a:endParaRPr>
          </a:p>
          <a:p>
            <a:endParaRPr lang="en-US" sz="2000">
              <a:solidFill>
                <a:srgbClr val="0E2A2F"/>
              </a:solidFill>
              <a:ea typeface="Calibri"/>
              <a:cs typeface="Calibri"/>
            </a:endParaRPr>
          </a:p>
          <a:p>
            <a:endParaRPr lang="en-US" sz="2400" b="1" u="sng">
              <a:solidFill>
                <a:schemeClr val="accent2"/>
              </a:solidFill>
              <a:ea typeface="Calibri"/>
              <a:cs typeface="Calibri"/>
            </a:endParaRPr>
          </a:p>
          <a:p>
            <a:endParaRPr lang="en-US" sz="2400" b="1" u="sng">
              <a:solidFill>
                <a:schemeClr val="accent2"/>
              </a:solidFill>
              <a:ea typeface="Calibri"/>
              <a:cs typeface="Calibri"/>
            </a:endParaRPr>
          </a:p>
          <a:p>
            <a:endParaRPr lang="en-US" sz="2400" b="1" u="sng">
              <a:solidFill>
                <a:schemeClr val="accent2"/>
              </a:solidFill>
              <a:ea typeface="Calibri"/>
              <a:cs typeface="Calibri"/>
            </a:endParaRPr>
          </a:p>
        </p:txBody>
      </p:sp>
      <p:sp>
        <p:nvSpPr>
          <p:cNvPr id="12" name="Team Name">
            <a:extLst>
              <a:ext uri="{FF2B5EF4-FFF2-40B4-BE49-F238E27FC236}">
                <a16:creationId xmlns:a16="http://schemas.microsoft.com/office/drawing/2014/main" id="{C299FA15-EB70-9CD9-41BE-CF35B577FBB7}"/>
              </a:ext>
            </a:extLst>
          </p:cNvPr>
          <p:cNvSpPr txBox="1"/>
          <p:nvPr/>
        </p:nvSpPr>
        <p:spPr>
          <a:xfrm>
            <a:off x="1419617" y="379873"/>
            <a:ext cx="1627632" cy="694944"/>
          </a:xfrm>
          <a:prstGeom prst="rect">
            <a:avLst/>
          </a:prstGeom>
          <a:noFill/>
          <a:ln/>
        </p:spPr>
        <p:txBody>
          <a:bodyPr wrap="square" lIns="0" tIns="0" rIns="0" bIns="0" rtlCol="0" anchor="ctr">
            <a:normAutofit/>
          </a:bodyPr>
          <a:lstStyle/>
          <a:p>
            <a:pPr marL="0" indent="0">
              <a:buNone/>
            </a:pPr>
            <a:r>
              <a:rPr lang="en-US" sz="900" b="1">
                <a:solidFill>
                  <a:schemeClr val="accent5"/>
                </a:solidFill>
              </a:rPr>
              <a:t>TEAM</a:t>
            </a:r>
            <a:endParaRPr lang="en-US" sz="900">
              <a:solidFill>
                <a:schemeClr val="accent5"/>
              </a:solidFill>
              <a:ea typeface="Calibri"/>
              <a:cs typeface="Calibri"/>
            </a:endParaRPr>
          </a:p>
          <a:p>
            <a:r>
              <a:rPr lang="en-US" sz="1500" b="1">
                <a:solidFill>
                  <a:schemeClr val="accent1"/>
                </a:solidFill>
              </a:rPr>
              <a:t>Binary Brains</a:t>
            </a:r>
            <a:endParaRPr lang="en-US" sz="1500">
              <a:solidFill>
                <a:schemeClr val="accent1"/>
              </a:solidFill>
              <a:ea typeface="Calibri"/>
              <a:cs typeface="Calibri"/>
            </a:endParaRPr>
          </a:p>
          <a:p>
            <a:pPr marL="0" indent="0">
              <a:buNone/>
            </a:pPr>
            <a:endParaRPr lang="en-US" sz="1500" b="1">
              <a:solidFill>
                <a:schemeClr val="accent1"/>
              </a:solidFill>
              <a:ea typeface="Calibri"/>
              <a:cs typeface="Calibri"/>
            </a:endParaRPr>
          </a:p>
        </p:txBody>
      </p:sp>
    </p:spTree>
    <p:extLst>
      <p:ext uri="{BB962C8B-B14F-4D97-AF65-F5344CB8AC3E}">
        <p14:creationId xmlns:p14="http://schemas.microsoft.com/office/powerpoint/2010/main" val="2390538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KEY CHALLENGES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lgn="ctr">
              <a:buNone/>
            </a:pPr>
            <a:r>
              <a:rPr lang="en-US" sz="2400" b="1" u="sng">
                <a:solidFill>
                  <a:schemeClr val="accent2"/>
                </a:solidFill>
              </a:rPr>
              <a:t>Main difficulties, bottlenecks, root causes and consequences</a:t>
            </a:r>
            <a:endParaRPr lang="en-US" sz="2400" b="1" u="sng">
              <a:solidFill>
                <a:schemeClr val="accent2"/>
              </a:solidFill>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
        <p:nvSpPr>
          <p:cNvPr id="12" name="Team Name">
            <a:extLst>
              <a:ext uri="{FF2B5EF4-FFF2-40B4-BE49-F238E27FC236}">
                <a16:creationId xmlns:a16="http://schemas.microsoft.com/office/drawing/2014/main" id="{EC3BCC7C-D780-0069-CF4E-3C3D9EDFF526}"/>
              </a:ext>
            </a:extLst>
          </p:cNvPr>
          <p:cNvSpPr txBox="1"/>
          <p:nvPr/>
        </p:nvSpPr>
        <p:spPr>
          <a:xfrm>
            <a:off x="1437190" y="391764"/>
            <a:ext cx="1627632" cy="694944"/>
          </a:xfrm>
          <a:prstGeom prst="rect">
            <a:avLst/>
          </a:prstGeom>
          <a:noFill/>
          <a:ln/>
        </p:spPr>
        <p:txBody>
          <a:bodyPr wrap="square" lIns="0" tIns="0" rIns="0" bIns="0" rtlCol="0" anchor="ctr">
            <a:normAutofit/>
          </a:bodyPr>
          <a:lstStyle/>
          <a:p>
            <a:pPr marL="0" indent="0">
              <a:buNone/>
            </a:pPr>
            <a:r>
              <a:rPr lang="en-US" sz="900" b="1">
                <a:solidFill>
                  <a:schemeClr val="accent5"/>
                </a:solidFill>
              </a:rPr>
              <a:t>TEAM</a:t>
            </a:r>
            <a:endParaRPr lang="en-US" sz="900">
              <a:solidFill>
                <a:schemeClr val="accent5"/>
              </a:solidFill>
              <a:ea typeface="Calibri"/>
              <a:cs typeface="Calibri"/>
            </a:endParaRPr>
          </a:p>
          <a:p>
            <a:r>
              <a:rPr lang="en-US" sz="1500" b="1">
                <a:solidFill>
                  <a:schemeClr val="accent1"/>
                </a:solidFill>
              </a:rPr>
              <a:t>Binary Brains</a:t>
            </a:r>
            <a:endParaRPr lang="en-US" sz="1500">
              <a:solidFill>
                <a:schemeClr val="accent1"/>
              </a:solidFill>
              <a:ea typeface="Calibri"/>
              <a:cs typeface="Calibri"/>
            </a:endParaRPr>
          </a:p>
          <a:p>
            <a:pPr marL="0" indent="0">
              <a:buNone/>
            </a:pPr>
            <a:endParaRPr lang="en-US" sz="1500" b="1">
              <a:solidFill>
                <a:schemeClr val="accent1"/>
              </a:solidFill>
              <a:ea typeface="Calibri"/>
              <a:cs typeface="Calibri"/>
            </a:endParaRPr>
          </a:p>
        </p:txBody>
      </p:sp>
      <p:graphicFrame>
        <p:nvGraphicFramePr>
          <p:cNvPr id="11" name="Table 10">
            <a:extLst>
              <a:ext uri="{FF2B5EF4-FFF2-40B4-BE49-F238E27FC236}">
                <a16:creationId xmlns:a16="http://schemas.microsoft.com/office/drawing/2014/main" id="{5BA6C32D-8A70-D2AA-751E-B663FD4A0517}"/>
              </a:ext>
            </a:extLst>
          </p:cNvPr>
          <p:cNvGraphicFramePr>
            <a:graphicFrameLocks noGrp="1"/>
          </p:cNvGraphicFramePr>
          <p:nvPr>
            <p:extLst>
              <p:ext uri="{D42A27DB-BD31-4B8C-83A1-F6EECF244321}">
                <p14:modId xmlns:p14="http://schemas.microsoft.com/office/powerpoint/2010/main" val="4043540779"/>
              </p:ext>
            </p:extLst>
          </p:nvPr>
        </p:nvGraphicFramePr>
        <p:xfrm>
          <a:off x="549797" y="1919467"/>
          <a:ext cx="10931055" cy="4359618"/>
        </p:xfrm>
        <a:graphic>
          <a:graphicData uri="http://schemas.openxmlformats.org/drawingml/2006/table">
            <a:tbl>
              <a:tblPr bandRow="1">
                <a:tableStyleId>{5C22544A-7EE6-4342-B048-85BDC9FD1C3A}</a:tableStyleId>
              </a:tblPr>
              <a:tblGrid>
                <a:gridCol w="3643685">
                  <a:extLst>
                    <a:ext uri="{9D8B030D-6E8A-4147-A177-3AD203B41FA5}">
                      <a16:colId xmlns:a16="http://schemas.microsoft.com/office/drawing/2014/main" val="452368294"/>
                    </a:ext>
                  </a:extLst>
                </a:gridCol>
                <a:gridCol w="3643685">
                  <a:extLst>
                    <a:ext uri="{9D8B030D-6E8A-4147-A177-3AD203B41FA5}">
                      <a16:colId xmlns:a16="http://schemas.microsoft.com/office/drawing/2014/main" val="1373611443"/>
                    </a:ext>
                  </a:extLst>
                </a:gridCol>
                <a:gridCol w="3643685">
                  <a:extLst>
                    <a:ext uri="{9D8B030D-6E8A-4147-A177-3AD203B41FA5}">
                      <a16:colId xmlns:a16="http://schemas.microsoft.com/office/drawing/2014/main" val="2745827364"/>
                    </a:ext>
                  </a:extLst>
                </a:gridCol>
              </a:tblGrid>
              <a:tr h="498241">
                <a:tc>
                  <a:txBody>
                    <a:bodyPr/>
                    <a:lstStyle/>
                    <a:p>
                      <a:pPr>
                        <a:buNone/>
                      </a:pPr>
                      <a:r>
                        <a:rPr lang="en-US" sz="2400" b="1" i="1"/>
                        <a:t>Bottleneck</a:t>
                      </a:r>
                    </a:p>
                  </a:txBody>
                  <a:tcPr anchor="ctr">
                    <a:lnL>
                      <a:noFill/>
                    </a:lnL>
                    <a:lnR>
                      <a:noFill/>
                    </a:lnR>
                    <a:lnT>
                      <a:noFill/>
                    </a:lnT>
                    <a:lnB>
                      <a:noFill/>
                    </a:lnB>
                    <a:noFill/>
                  </a:tcPr>
                </a:tc>
                <a:tc>
                  <a:txBody>
                    <a:bodyPr/>
                    <a:lstStyle/>
                    <a:p>
                      <a:pPr>
                        <a:buNone/>
                      </a:pPr>
                      <a:r>
                        <a:rPr lang="en-US" sz="2400" b="1" i="1"/>
                        <a:t>Root Cause</a:t>
                      </a:r>
                    </a:p>
                  </a:txBody>
                  <a:tcPr anchor="ctr">
                    <a:lnL>
                      <a:noFill/>
                    </a:lnL>
                    <a:lnR>
                      <a:noFill/>
                    </a:lnR>
                    <a:lnT>
                      <a:noFill/>
                    </a:lnT>
                    <a:lnB>
                      <a:noFill/>
                    </a:lnB>
                    <a:noFill/>
                  </a:tcPr>
                </a:tc>
                <a:tc>
                  <a:txBody>
                    <a:bodyPr/>
                    <a:lstStyle/>
                    <a:p>
                      <a:pPr>
                        <a:buNone/>
                      </a:pPr>
                      <a:r>
                        <a:rPr lang="en-US" sz="2000" b="1" i="1"/>
                        <a:t>Consequence if Left Unsolved</a:t>
                      </a:r>
                    </a:p>
                  </a:txBody>
                  <a:tcPr anchor="ctr">
                    <a:lnL>
                      <a:noFill/>
                    </a:lnL>
                    <a:lnR>
                      <a:noFill/>
                    </a:lnR>
                    <a:lnT>
                      <a:noFill/>
                    </a:lnT>
                    <a:lnB>
                      <a:noFill/>
                    </a:lnB>
                    <a:noFill/>
                  </a:tcPr>
                </a:tc>
                <a:extLst>
                  <a:ext uri="{0D108BD9-81ED-4DB2-BD59-A6C34878D82A}">
                    <a16:rowId xmlns:a16="http://schemas.microsoft.com/office/drawing/2014/main" val="880941444"/>
                  </a:ext>
                </a:extLst>
              </a:tr>
              <a:tr h="1021397">
                <a:tc>
                  <a:txBody>
                    <a:bodyPr/>
                    <a:lstStyle/>
                    <a:p>
                      <a:pPr>
                        <a:buNone/>
                      </a:pPr>
                      <a:r>
                        <a:rPr lang="en-US" b="1"/>
                        <a:t>Trust and safety</a:t>
                      </a:r>
                      <a:endParaRPr lang="en-US"/>
                    </a:p>
                  </a:txBody>
                  <a:tcPr anchor="ctr">
                    <a:lnL>
                      <a:noFill/>
                    </a:lnL>
                    <a:lnR>
                      <a:noFill/>
                    </a:lnR>
                    <a:lnT>
                      <a:noFill/>
                    </a:lnT>
                    <a:lnB>
                      <a:noFill/>
                    </a:lnB>
                    <a:noFill/>
                  </a:tcPr>
                </a:tc>
                <a:tc>
                  <a:txBody>
                    <a:bodyPr/>
                    <a:lstStyle/>
                    <a:p>
                      <a:pPr>
                        <a:buNone/>
                      </a:pPr>
                      <a:r>
                        <a:rPr lang="en-US"/>
                        <a:t>Unverified strangers, no accountability</a:t>
                      </a:r>
                    </a:p>
                  </a:txBody>
                  <a:tcPr anchor="ctr">
                    <a:lnL>
                      <a:noFill/>
                    </a:lnL>
                    <a:lnR>
                      <a:noFill/>
                    </a:lnR>
                    <a:lnT>
                      <a:noFill/>
                    </a:lnT>
                    <a:lnB>
                      <a:noFill/>
                    </a:lnB>
                    <a:noFill/>
                  </a:tcPr>
                </a:tc>
                <a:tc>
                  <a:txBody>
                    <a:bodyPr/>
                    <a:lstStyle/>
                    <a:p>
                      <a:pPr>
                        <a:buNone/>
                      </a:pPr>
                      <a:r>
                        <a:rPr lang="en-US"/>
                        <a:t>Riders avoid booking, women exit first, and the platform never gains users</a:t>
                      </a:r>
                    </a:p>
                  </a:txBody>
                  <a:tcPr anchor="ctr">
                    <a:lnL>
                      <a:noFill/>
                    </a:lnL>
                    <a:lnR>
                      <a:noFill/>
                    </a:lnR>
                    <a:lnT>
                      <a:noFill/>
                    </a:lnT>
                    <a:lnB>
                      <a:noFill/>
                    </a:lnB>
                    <a:noFill/>
                  </a:tcPr>
                </a:tc>
                <a:extLst>
                  <a:ext uri="{0D108BD9-81ED-4DB2-BD59-A6C34878D82A}">
                    <a16:rowId xmlns:a16="http://schemas.microsoft.com/office/drawing/2014/main" val="3129768063"/>
                  </a:ext>
                </a:extLst>
              </a:tr>
              <a:tr h="709995">
                <a:tc>
                  <a:txBody>
                    <a:bodyPr/>
                    <a:lstStyle/>
                    <a:p>
                      <a:pPr>
                        <a:buNone/>
                      </a:pPr>
                      <a:r>
                        <a:rPr lang="en-US" b="1"/>
                        <a:t>Legal grey area</a:t>
                      </a:r>
                      <a:endParaRPr lang="en-US"/>
                    </a:p>
                  </a:txBody>
                  <a:tcPr anchor="ctr">
                    <a:lnL>
                      <a:noFill/>
                    </a:lnL>
                    <a:lnR>
                      <a:noFill/>
                    </a:lnR>
                    <a:lnT>
                      <a:noFill/>
                    </a:lnT>
                    <a:lnB>
                      <a:noFill/>
                    </a:lnB>
                    <a:noFill/>
                  </a:tcPr>
                </a:tc>
                <a:tc>
                  <a:txBody>
                    <a:bodyPr/>
                    <a:lstStyle/>
                    <a:p>
                      <a:pPr>
                        <a:buNone/>
                      </a:pPr>
                      <a:r>
                        <a:rPr lang="en-US"/>
                        <a:t>Motor Vehicles Act bars private cars from “hire or reward”</a:t>
                      </a:r>
                    </a:p>
                  </a:txBody>
                  <a:tcPr anchor="ctr">
                    <a:lnL>
                      <a:noFill/>
                    </a:lnL>
                    <a:lnR>
                      <a:noFill/>
                    </a:lnR>
                    <a:lnT>
                      <a:noFill/>
                    </a:lnT>
                    <a:lnB>
                      <a:noFill/>
                    </a:lnB>
                    <a:noFill/>
                  </a:tcPr>
                </a:tc>
                <a:tc>
                  <a:txBody>
                    <a:bodyPr/>
                    <a:lstStyle/>
                    <a:p>
                      <a:pPr>
                        <a:buNone/>
                      </a:pPr>
                      <a:r>
                        <a:rPr lang="en-US"/>
                        <a:t>Fines, app shutdown, and loss of university approval</a:t>
                      </a:r>
                    </a:p>
                  </a:txBody>
                  <a:tcPr anchor="ctr">
                    <a:lnL>
                      <a:noFill/>
                    </a:lnL>
                    <a:lnR>
                      <a:noFill/>
                    </a:lnR>
                    <a:lnT>
                      <a:noFill/>
                    </a:lnT>
                    <a:lnB>
                      <a:noFill/>
                    </a:lnB>
                    <a:noFill/>
                  </a:tcPr>
                </a:tc>
                <a:extLst>
                  <a:ext uri="{0D108BD9-81ED-4DB2-BD59-A6C34878D82A}">
                    <a16:rowId xmlns:a16="http://schemas.microsoft.com/office/drawing/2014/main" val="177069856"/>
                  </a:ext>
                </a:extLst>
              </a:tr>
              <a:tr h="709995">
                <a:tc>
                  <a:txBody>
                    <a:bodyPr/>
                    <a:lstStyle/>
                    <a:p>
                      <a:pPr>
                        <a:buNone/>
                      </a:pPr>
                      <a:r>
                        <a:rPr lang="en-US" b="1"/>
                        <a:t>Insurance gap</a:t>
                      </a:r>
                      <a:endParaRPr lang="en-US"/>
                    </a:p>
                  </a:txBody>
                  <a:tcPr anchor="ctr">
                    <a:lnL>
                      <a:noFill/>
                    </a:lnL>
                    <a:lnR>
                      <a:noFill/>
                    </a:lnR>
                    <a:lnT>
                      <a:noFill/>
                    </a:lnT>
                    <a:lnB>
                      <a:noFill/>
                    </a:lnB>
                    <a:noFill/>
                  </a:tcPr>
                </a:tc>
                <a:tc>
                  <a:txBody>
                    <a:bodyPr/>
                    <a:lstStyle/>
                    <a:p>
                      <a:pPr>
                        <a:buNone/>
                      </a:pPr>
                      <a:r>
                        <a:rPr lang="en-US"/>
                        <a:t>Private policies not designed for passenger sharing</a:t>
                      </a:r>
                    </a:p>
                  </a:txBody>
                  <a:tcPr anchor="ctr">
                    <a:lnL>
                      <a:noFill/>
                    </a:lnL>
                    <a:lnR>
                      <a:noFill/>
                    </a:lnR>
                    <a:lnT>
                      <a:noFill/>
                    </a:lnT>
                    <a:lnB>
                      <a:noFill/>
                    </a:lnB>
                    <a:noFill/>
                  </a:tcPr>
                </a:tc>
                <a:tc>
                  <a:txBody>
                    <a:bodyPr/>
                    <a:lstStyle/>
                    <a:p>
                      <a:pPr>
                        <a:buNone/>
                      </a:pPr>
                      <a:r>
                        <a:rPr lang="en-US"/>
                        <a:t>Drivers withdraw seats, and accident costs fall on students</a:t>
                      </a:r>
                    </a:p>
                  </a:txBody>
                  <a:tcPr anchor="ctr">
                    <a:lnL>
                      <a:noFill/>
                    </a:lnL>
                    <a:lnR>
                      <a:noFill/>
                    </a:lnR>
                    <a:lnT>
                      <a:noFill/>
                    </a:lnT>
                    <a:lnB>
                      <a:noFill/>
                    </a:lnB>
                    <a:noFill/>
                  </a:tcPr>
                </a:tc>
                <a:extLst>
                  <a:ext uri="{0D108BD9-81ED-4DB2-BD59-A6C34878D82A}">
                    <a16:rowId xmlns:a16="http://schemas.microsoft.com/office/drawing/2014/main" val="3033077209"/>
                  </a:ext>
                </a:extLst>
              </a:tr>
              <a:tr h="709995">
                <a:tc>
                  <a:txBody>
                    <a:bodyPr/>
                    <a:lstStyle/>
                    <a:p>
                      <a:pPr>
                        <a:buNone/>
                      </a:pPr>
                      <a:r>
                        <a:rPr lang="en-US" b="1"/>
                        <a:t>Coordination effort</a:t>
                      </a:r>
                      <a:endParaRPr lang="en-US"/>
                    </a:p>
                  </a:txBody>
                  <a:tcPr anchor="ctr">
                    <a:lnL>
                      <a:noFill/>
                    </a:lnL>
                    <a:lnR>
                      <a:noFill/>
                    </a:lnR>
                    <a:lnT>
                      <a:noFill/>
                    </a:lnT>
                    <a:lnB>
                      <a:noFill/>
                    </a:lnB>
                    <a:noFill/>
                  </a:tcPr>
                </a:tc>
                <a:tc>
                  <a:txBody>
                    <a:bodyPr/>
                    <a:lstStyle/>
                    <a:p>
                      <a:pPr>
                        <a:buNone/>
                      </a:pPr>
                      <a:r>
                        <a:rPr lang="en-US"/>
                        <a:t>Fixed timings, loss of flexibility</a:t>
                      </a:r>
                    </a:p>
                  </a:txBody>
                  <a:tcPr anchor="ctr">
                    <a:lnL>
                      <a:noFill/>
                    </a:lnL>
                    <a:lnR>
                      <a:noFill/>
                    </a:lnR>
                    <a:lnT>
                      <a:noFill/>
                    </a:lnT>
                    <a:lnB>
                      <a:noFill/>
                    </a:lnB>
                    <a:noFill/>
                  </a:tcPr>
                </a:tc>
                <a:tc>
                  <a:txBody>
                    <a:bodyPr/>
                    <a:lstStyle/>
                    <a:p>
                      <a:pPr>
                        <a:buNone/>
                      </a:pPr>
                      <a:r>
                        <a:rPr lang="en-US"/>
                        <a:t>Students revert to solo travel, and usage never becomes a habit</a:t>
                      </a:r>
                    </a:p>
                  </a:txBody>
                  <a:tcPr anchor="ctr">
                    <a:lnL>
                      <a:noFill/>
                    </a:lnL>
                    <a:lnR>
                      <a:noFill/>
                    </a:lnR>
                    <a:lnT>
                      <a:noFill/>
                    </a:lnT>
                    <a:lnB>
                      <a:noFill/>
                    </a:lnB>
                    <a:noFill/>
                  </a:tcPr>
                </a:tc>
                <a:extLst>
                  <a:ext uri="{0D108BD9-81ED-4DB2-BD59-A6C34878D82A}">
                    <a16:rowId xmlns:a16="http://schemas.microsoft.com/office/drawing/2014/main" val="1222578742"/>
                  </a:ext>
                </a:extLst>
              </a:tr>
              <a:tr h="709995">
                <a:tc>
                  <a:txBody>
                    <a:bodyPr/>
                    <a:lstStyle/>
                    <a:p>
                      <a:pPr>
                        <a:buNone/>
                      </a:pPr>
                      <a:r>
                        <a:rPr lang="en-US" b="1"/>
                        <a:t>Cold start</a:t>
                      </a:r>
                      <a:endParaRPr lang="en-US"/>
                    </a:p>
                  </a:txBody>
                  <a:tcPr anchor="ctr">
                    <a:lnL>
                      <a:noFill/>
                    </a:lnL>
                    <a:lnR>
                      <a:noFill/>
                    </a:lnR>
                    <a:lnT>
                      <a:noFill/>
                    </a:lnT>
                    <a:lnB>
                      <a:noFill/>
                    </a:lnB>
                    <a:noFill/>
                  </a:tcPr>
                </a:tc>
                <a:tc>
                  <a:txBody>
                    <a:bodyPr/>
                    <a:lstStyle/>
                    <a:p>
                      <a:pPr>
                        <a:buNone/>
                      </a:pPr>
                      <a:r>
                        <a:rPr lang="en-US"/>
                        <a:t>Riders and drivers must exist on the same route</a:t>
                      </a:r>
                    </a:p>
                  </a:txBody>
                  <a:tcPr anchor="ctr">
                    <a:lnL>
                      <a:noFill/>
                    </a:lnL>
                    <a:lnR>
                      <a:noFill/>
                    </a:lnR>
                    <a:lnT>
                      <a:noFill/>
                    </a:lnT>
                    <a:lnB>
                      <a:noFill/>
                    </a:lnB>
                    <a:noFill/>
                  </a:tcPr>
                </a:tc>
                <a:tc>
                  <a:txBody>
                    <a:bodyPr/>
                    <a:lstStyle/>
                    <a:p>
                      <a:pPr>
                        <a:buNone/>
                      </a:pPr>
                      <a:r>
                        <a:rPr lang="en-US"/>
                        <a:t>Empty search results, early users leave, and growth stalls</a:t>
                      </a:r>
                    </a:p>
                  </a:txBody>
                  <a:tcPr anchor="ctr">
                    <a:lnL>
                      <a:noFill/>
                    </a:lnL>
                    <a:lnR>
                      <a:noFill/>
                    </a:lnR>
                    <a:lnT>
                      <a:noFill/>
                    </a:lnT>
                    <a:lnB>
                      <a:noFill/>
                    </a:lnB>
                    <a:noFill/>
                  </a:tcPr>
                </a:tc>
                <a:extLst>
                  <a:ext uri="{0D108BD9-81ED-4DB2-BD59-A6C34878D82A}">
                    <a16:rowId xmlns:a16="http://schemas.microsoft.com/office/drawing/2014/main" val="1537216449"/>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349082" y="329686"/>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EXISTING SOLUTIONS / APPROACHES</a:t>
            </a:r>
            <a:endParaRPr lang="en-US" sz="2400"/>
          </a:p>
        </p:txBody>
      </p:sp>
      <p:sp>
        <p:nvSpPr>
          <p:cNvPr id="3" name="Team Badge"/>
          <p:cNvSpPr/>
          <p:nvPr/>
        </p:nvSpPr>
        <p:spPr>
          <a:xfrm>
            <a:off x="380036" y="397204"/>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230337" y="104828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321777" y="1108630"/>
            <a:ext cx="274320" cy="27432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2" name="Team Name">
            <a:extLst>
              <a:ext uri="{FF2B5EF4-FFF2-40B4-BE49-F238E27FC236}">
                <a16:creationId xmlns:a16="http://schemas.microsoft.com/office/drawing/2014/main" id="{3FA37E4E-500E-DB8C-3543-0B3304E3B438}"/>
              </a:ext>
            </a:extLst>
          </p:cNvPr>
          <p:cNvSpPr txBox="1"/>
          <p:nvPr/>
        </p:nvSpPr>
        <p:spPr>
          <a:xfrm>
            <a:off x="1437190" y="382119"/>
            <a:ext cx="1627632" cy="694944"/>
          </a:xfrm>
          <a:prstGeom prst="rect">
            <a:avLst/>
          </a:prstGeom>
          <a:noFill/>
          <a:ln/>
        </p:spPr>
        <p:txBody>
          <a:bodyPr wrap="square" lIns="0" tIns="0" rIns="0" bIns="0" rtlCol="0" anchor="ctr">
            <a:normAutofit/>
          </a:bodyPr>
          <a:lstStyle/>
          <a:p>
            <a:pPr marL="0" indent="0">
              <a:buNone/>
            </a:pPr>
            <a:r>
              <a:rPr lang="en-US" sz="900" b="1">
                <a:solidFill>
                  <a:schemeClr val="accent5"/>
                </a:solidFill>
              </a:rPr>
              <a:t>TEAM</a:t>
            </a:r>
            <a:endParaRPr lang="en-US" sz="900">
              <a:solidFill>
                <a:schemeClr val="accent5"/>
              </a:solidFill>
              <a:ea typeface="Calibri"/>
              <a:cs typeface="Calibri"/>
            </a:endParaRPr>
          </a:p>
          <a:p>
            <a:r>
              <a:rPr lang="en-US" sz="1500" b="1">
                <a:solidFill>
                  <a:schemeClr val="accent1"/>
                </a:solidFill>
              </a:rPr>
              <a:t>Binary Brains</a:t>
            </a:r>
            <a:endParaRPr lang="en-US" sz="1500">
              <a:solidFill>
                <a:schemeClr val="accent1"/>
              </a:solidFill>
              <a:ea typeface="Calibri"/>
              <a:cs typeface="Calibri"/>
            </a:endParaRPr>
          </a:p>
          <a:p>
            <a:pPr marL="0" indent="0">
              <a:buNone/>
            </a:pPr>
            <a:endParaRPr lang="en-US" sz="1500" b="1">
              <a:solidFill>
                <a:schemeClr val="accent1"/>
              </a:solidFill>
              <a:ea typeface="Calibri"/>
              <a:cs typeface="Calibri"/>
            </a:endParaRPr>
          </a:p>
        </p:txBody>
      </p:sp>
      <p:pic>
        <p:nvPicPr>
          <p:cNvPr id="13" name="Picture 12">
            <a:extLst>
              <a:ext uri="{FF2B5EF4-FFF2-40B4-BE49-F238E27FC236}">
                <a16:creationId xmlns:a16="http://schemas.microsoft.com/office/drawing/2014/main" id="{400EFACD-1323-2599-8982-91176599B6B5}"/>
              </a:ext>
            </a:extLst>
          </p:cNvPr>
          <p:cNvPicPr>
            <a:picLocks noChangeAspect="1"/>
          </p:cNvPicPr>
          <p:nvPr/>
        </p:nvPicPr>
        <p:blipFill>
          <a:blip r:embed="rId5"/>
          <a:stretch>
            <a:fillRect/>
          </a:stretch>
        </p:blipFill>
        <p:spPr>
          <a:xfrm>
            <a:off x="2658898" y="1151166"/>
            <a:ext cx="7199839" cy="5658606"/>
          </a:xfrm>
          <a:prstGeom prst="rect">
            <a:avLst/>
          </a:prstGeom>
        </p:spPr>
      </p:pic>
      <p:pic>
        <p:nvPicPr>
          <p:cNvPr id="14" name="Picture 13">
            <a:extLst>
              <a:ext uri="{FF2B5EF4-FFF2-40B4-BE49-F238E27FC236}">
                <a16:creationId xmlns:a16="http://schemas.microsoft.com/office/drawing/2014/main" id="{B639B6D9-BD80-F9E4-45A0-77FA5A03B595}"/>
              </a:ext>
            </a:extLst>
          </p:cNvPr>
          <p:cNvPicPr>
            <a:picLocks noChangeAspect="1"/>
          </p:cNvPicPr>
          <p:nvPr/>
        </p:nvPicPr>
        <p:blipFill>
          <a:blip r:embed="rId6"/>
          <a:stretch>
            <a:fillRect/>
          </a:stretch>
        </p:blipFill>
        <p:spPr>
          <a:xfrm>
            <a:off x="593785" y="2020363"/>
            <a:ext cx="1605273" cy="1532610"/>
          </a:xfrm>
          <a:prstGeom prst="rect">
            <a:avLst/>
          </a:prstGeom>
        </p:spPr>
      </p:pic>
      <p:pic>
        <p:nvPicPr>
          <p:cNvPr id="15" name="Picture 14">
            <a:extLst>
              <a:ext uri="{FF2B5EF4-FFF2-40B4-BE49-F238E27FC236}">
                <a16:creationId xmlns:a16="http://schemas.microsoft.com/office/drawing/2014/main" id="{D5D1A89C-E338-8CE2-6639-2CC4E9D47787}"/>
              </a:ext>
            </a:extLst>
          </p:cNvPr>
          <p:cNvPicPr>
            <a:picLocks noChangeAspect="1"/>
          </p:cNvPicPr>
          <p:nvPr/>
        </p:nvPicPr>
        <p:blipFill>
          <a:blip r:embed="rId7"/>
          <a:stretch>
            <a:fillRect/>
          </a:stretch>
        </p:blipFill>
        <p:spPr>
          <a:xfrm>
            <a:off x="621854" y="3850226"/>
            <a:ext cx="1727200" cy="1838960"/>
          </a:xfrm>
          <a:prstGeom prst="rect">
            <a:avLst/>
          </a:prstGeom>
        </p:spPr>
      </p:pic>
      <p:pic>
        <p:nvPicPr>
          <p:cNvPr id="16" name="Picture 15">
            <a:extLst>
              <a:ext uri="{FF2B5EF4-FFF2-40B4-BE49-F238E27FC236}">
                <a16:creationId xmlns:a16="http://schemas.microsoft.com/office/drawing/2014/main" id="{8156D584-662E-CDD6-C6E9-116F00CA02F1}"/>
              </a:ext>
            </a:extLst>
          </p:cNvPr>
          <p:cNvPicPr>
            <a:picLocks noChangeAspect="1"/>
          </p:cNvPicPr>
          <p:nvPr/>
        </p:nvPicPr>
        <p:blipFill>
          <a:blip r:embed="rId8"/>
          <a:stretch>
            <a:fillRect/>
          </a:stretch>
        </p:blipFill>
        <p:spPr>
          <a:xfrm>
            <a:off x="10095121" y="4162260"/>
            <a:ext cx="1630713" cy="1530953"/>
          </a:xfrm>
          <a:prstGeom prst="rect">
            <a:avLst/>
          </a:prstGeom>
        </p:spPr>
      </p:pic>
      <p:pic>
        <p:nvPicPr>
          <p:cNvPr id="17" name="Picture 16">
            <a:extLst>
              <a:ext uri="{FF2B5EF4-FFF2-40B4-BE49-F238E27FC236}">
                <a16:creationId xmlns:a16="http://schemas.microsoft.com/office/drawing/2014/main" id="{2AECAB35-CB54-937F-F43D-D64E387C619F}"/>
              </a:ext>
            </a:extLst>
          </p:cNvPr>
          <p:cNvPicPr>
            <a:picLocks noChangeAspect="1"/>
          </p:cNvPicPr>
          <p:nvPr/>
        </p:nvPicPr>
        <p:blipFill>
          <a:blip r:embed="rId9"/>
          <a:stretch>
            <a:fillRect/>
          </a:stretch>
        </p:blipFill>
        <p:spPr>
          <a:xfrm>
            <a:off x="9940438" y="1922848"/>
            <a:ext cx="1924742" cy="1928343"/>
          </a:xfrm>
          <a:prstGeom prst="rect">
            <a:avLst/>
          </a:prstGeom>
        </p:spPr>
      </p:pic>
      <p:pic>
        <p:nvPicPr>
          <p:cNvPr id="6" name="Picture 5">
            <a:extLst>
              <a:ext uri="{FF2B5EF4-FFF2-40B4-BE49-F238E27FC236}">
                <a16:creationId xmlns:a16="http://schemas.microsoft.com/office/drawing/2014/main" id="{5555E4CD-3A99-6753-088D-1159AF15B1F6}"/>
              </a:ext>
            </a:extLst>
          </p:cNvPr>
          <p:cNvPicPr>
            <a:picLocks noChangeAspect="1"/>
          </p:cNvPicPr>
          <p:nvPr/>
        </p:nvPicPr>
        <p:blipFill>
          <a:blip r:embed="rId10"/>
          <a:stretch>
            <a:fillRect/>
          </a:stretch>
        </p:blipFill>
        <p:spPr>
          <a:xfrm flipH="1" flipV="1">
            <a:off x="7548245" y="6548755"/>
            <a:ext cx="458470" cy="323850"/>
          </a:xfrm>
          <a:prstGeom prst="rect">
            <a:avLst/>
          </a:prstGeom>
        </p:spPr>
      </p:pic>
      <p:sp>
        <p:nvSpPr>
          <p:cNvPr id="9" name="TextBox 8">
            <a:extLst>
              <a:ext uri="{FF2B5EF4-FFF2-40B4-BE49-F238E27FC236}">
                <a16:creationId xmlns:a16="http://schemas.microsoft.com/office/drawing/2014/main" id="{C1FBB48E-56B2-5751-23B6-FF46872B288E}"/>
              </a:ext>
            </a:extLst>
          </p:cNvPr>
          <p:cNvSpPr txBox="1"/>
          <p:nvPr/>
        </p:nvSpPr>
        <p:spPr>
          <a:xfrm>
            <a:off x="8005354" y="6549208"/>
            <a:ext cx="1605280" cy="307777"/>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a:ea typeface="Calibri"/>
                <a:cs typeface="Calibri"/>
              </a:rPr>
              <a:t>Made with </a:t>
            </a:r>
            <a:r>
              <a:rPr lang="en-GB" sz="1400" err="1">
                <a:ea typeface="Calibri"/>
                <a:cs typeface="Calibri"/>
              </a:rPr>
              <a:t>Chatgpt</a:t>
            </a:r>
            <a:endParaRPr lang="en-GB" sz="140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a:solidFill>
                  <a:schemeClr val="tx2"/>
                </a:solidFill>
                <a:latin typeface="Cambria" pitchFamily="34" charset="0"/>
                <a:ea typeface="Cambria" pitchFamily="34" charset="-122"/>
                <a:cs typeface="Cambria" pitchFamily="34" charset="-120"/>
              </a:rPr>
              <a:t>PROBLEM INSIGHTS &amp; OPPORTUNITY AREAS</a:t>
            </a:r>
            <a:endParaRPr lang="en-US" sz="240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a:solidFill>
                  <a:schemeClr val="accent5"/>
                </a:solidFill>
              </a:rPr>
              <a:t>TEAM</a:t>
            </a:r>
            <a:endParaRPr lang="en-US" sz="900">
              <a:solidFill>
                <a:schemeClr val="accent5"/>
              </a:solidFill>
              <a:ea typeface="Calibri"/>
              <a:cs typeface="Calibri"/>
            </a:endParaRPr>
          </a:p>
          <a:p>
            <a:r>
              <a:rPr lang="en-US" sz="1500" b="1">
                <a:solidFill>
                  <a:schemeClr val="accent1"/>
                </a:solidFill>
              </a:rPr>
              <a:t>Binary Brains</a:t>
            </a:r>
            <a:endParaRPr lang="en-US" sz="1500">
              <a:solidFill>
                <a:schemeClr val="accent1"/>
              </a:solidFill>
              <a:ea typeface="Calibri"/>
              <a:cs typeface="Calibri"/>
            </a:endParaRPr>
          </a:p>
          <a:p>
            <a:pPr marL="0" indent="0">
              <a:buNone/>
            </a:pPr>
            <a:endParaRPr lang="en-US" sz="1500" b="1">
              <a:solidFill>
                <a:schemeClr val="accent1"/>
              </a:solidFill>
              <a:ea typeface="Calibri"/>
              <a:cs typeface="Calibri"/>
            </a:endParaRPr>
          </a:p>
        </p:txBody>
      </p:sp>
      <p:sp>
        <p:nvSpPr>
          <p:cNvPr id="7" name="Lead Icon Hex"/>
          <p:cNvSpPr/>
          <p:nvPr/>
        </p:nvSpPr>
        <p:spPr>
          <a:xfrm>
            <a:off x="508000" y="113792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599440" y="1198270"/>
            <a:ext cx="274320" cy="274320"/>
          </a:xfrm>
          <a:prstGeom prst="rect">
            <a:avLst/>
          </a:prstGeom>
        </p:spPr>
      </p:pic>
      <p:sp>
        <p:nvSpPr>
          <p:cNvPr id="9" name="Lead Text"/>
          <p:cNvSpPr txBox="1"/>
          <p:nvPr/>
        </p:nvSpPr>
        <p:spPr>
          <a:xfrm>
            <a:off x="1241552" y="919480"/>
            <a:ext cx="10668000" cy="1010920"/>
          </a:xfrm>
          <a:prstGeom prst="rect">
            <a:avLst/>
          </a:prstGeom>
          <a:noFill/>
          <a:ln/>
        </p:spPr>
        <p:txBody>
          <a:bodyPr wrap="square" lIns="0" tIns="0" rIns="0" bIns="0" rtlCol="0" anchor="ctr"/>
          <a:lstStyle/>
          <a:p>
            <a:pPr marL="0" indent="0" algn="ctr">
              <a:buNone/>
            </a:pPr>
            <a:r>
              <a:rPr lang="en-US" sz="2400" b="1" u="sng">
                <a:solidFill>
                  <a:schemeClr val="accent2"/>
                </a:solidFill>
              </a:rPr>
              <a:t>Resources required to solve the problem</a:t>
            </a:r>
            <a:endParaRPr lang="en-US" sz="2400" u="sng">
              <a:solidFill>
                <a:schemeClr val="accent2"/>
              </a:solidFill>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pic>
        <p:nvPicPr>
          <p:cNvPr id="20" name="Picture 19">
            <a:extLst>
              <a:ext uri="{FF2B5EF4-FFF2-40B4-BE49-F238E27FC236}">
                <a16:creationId xmlns:a16="http://schemas.microsoft.com/office/drawing/2014/main" id="{46E9026E-420A-99DD-459B-73AB4A27CAAD}"/>
              </a:ext>
            </a:extLst>
          </p:cNvPr>
          <p:cNvPicPr>
            <a:picLocks noChangeAspect="1"/>
          </p:cNvPicPr>
          <p:nvPr/>
        </p:nvPicPr>
        <p:blipFill>
          <a:blip r:embed="rId5"/>
          <a:stretch>
            <a:fillRect/>
          </a:stretch>
        </p:blipFill>
        <p:spPr>
          <a:xfrm>
            <a:off x="1374839" y="1717040"/>
            <a:ext cx="10234802" cy="45708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l">
              <a:buNone/>
            </a:pPr>
            <a:r>
              <a:rPr lang="en-US" sz="2400" b="1" kern="0" spc="100">
                <a:solidFill>
                  <a:schemeClr val="tx2"/>
                </a:solidFill>
                <a:latin typeface="Cambria" pitchFamily="34" charset="0"/>
                <a:ea typeface="Cambria" pitchFamily="34" charset="-122"/>
                <a:cs typeface="Cambria" pitchFamily="34" charset="-120"/>
              </a:rPr>
              <a:t>INITIAL DIRECTION &amp; EXPECTED OUTCOME</a:t>
            </a:r>
            <a:endParaRPr lang="en-US"/>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231884" y="1073191"/>
            <a:ext cx="9601200" cy="502920"/>
          </a:xfrm>
          <a:prstGeom prst="rect">
            <a:avLst/>
          </a:prstGeom>
          <a:noFill/>
          <a:ln/>
        </p:spPr>
        <p:txBody>
          <a:bodyPr wrap="square" lIns="0" tIns="0" rIns="0" bIns="0" rtlCol="0" anchor="ctr"/>
          <a:lstStyle/>
          <a:p>
            <a:pPr marL="0" indent="0" algn="ctr">
              <a:buNone/>
            </a:pPr>
            <a:r>
              <a:rPr lang="en-US" sz="2400" b="1" u="sng">
                <a:solidFill>
                  <a:schemeClr val="accent2"/>
                </a:solidFill>
              </a:rPr>
              <a:t>What Is Your Expected Outcome?</a:t>
            </a:r>
            <a:endParaRPr lang="en-US" sz="2400" b="1" u="sng">
              <a:solidFill>
                <a:schemeClr val="accent2"/>
              </a:solidFill>
              <a:ea typeface="Calibri"/>
              <a:cs typeface="Calibri"/>
            </a:endParaRPr>
          </a:p>
        </p:txBody>
      </p:sp>
      <p:sp>
        <p:nvSpPr>
          <p:cNvPr id="10" name="Prompts"/>
          <p:cNvSpPr txBox="1"/>
          <p:nvPr/>
        </p:nvSpPr>
        <p:spPr>
          <a:xfrm>
            <a:off x="1120386" y="1790126"/>
            <a:ext cx="10353040" cy="4368800"/>
          </a:xfrm>
          <a:prstGeom prst="rect">
            <a:avLst/>
          </a:prstGeom>
          <a:noFill/>
          <a:ln/>
        </p:spPr>
        <p:txBody>
          <a:bodyPr wrap="square" lIns="0" tIns="0" rIns="0" bIns="0" rtlCol="0" anchor="t"/>
          <a:lstStyle/>
          <a:p>
            <a:pPr>
              <a:spcAft>
                <a:spcPts val="1000"/>
              </a:spcAft>
              <a:buClr>
                <a:schemeClr val="accent1"/>
              </a:buClr>
              <a:buSzPct val="100000"/>
            </a:pPr>
            <a:r>
              <a:rPr lang="en-US" sz="2000" b="1">
                <a:ea typeface="+mn-lt"/>
                <a:cs typeface="+mn-lt"/>
              </a:rPr>
              <a:t>What our team intends to do</a:t>
            </a:r>
            <a:r>
              <a:rPr lang="en-US">
                <a:ea typeface="+mn-lt"/>
                <a:cs typeface="+mn-lt"/>
              </a:rPr>
              <a:t>:</a:t>
            </a:r>
          </a:p>
          <a:p>
            <a:pPr>
              <a:spcAft>
                <a:spcPts val="1000"/>
              </a:spcAft>
            </a:pPr>
            <a:r>
              <a:rPr lang="en-US">
                <a:ea typeface="+mn-lt"/>
                <a:cs typeface="+mn-lt"/>
              </a:rPr>
              <a:t>Our team wants to build an inter‑campus carpooling platform that connects students, professors and non‑teaching staff who travel along the same routes. The inter‑campus carpooling platform will help local students find travel partners. The inter‑campus carpooling platform will also let out‑of‑state students who are unfamiliar, with local transport routes commute safely and efficiently.</a:t>
            </a:r>
            <a:endParaRPr lang="en-US">
              <a:ea typeface="Calibri"/>
              <a:cs typeface="Calibri"/>
            </a:endParaRPr>
          </a:p>
          <a:p>
            <a:pPr>
              <a:spcAft>
                <a:spcPts val="1000"/>
              </a:spcAft>
              <a:buClr>
                <a:schemeClr val="accent1"/>
              </a:buClr>
              <a:buSzPct val="100000"/>
            </a:pPr>
            <a:r>
              <a:rPr lang="en-US" sz="2000" b="1"/>
              <a:t>What we want to improve</a:t>
            </a:r>
            <a:r>
              <a:rPr lang="en-US"/>
              <a:t>:</a:t>
            </a:r>
            <a:endParaRPr lang="en-US" sz="1800">
              <a:ea typeface="Calibri"/>
              <a:cs typeface="Calibri"/>
            </a:endParaRPr>
          </a:p>
          <a:p>
            <a:pPr>
              <a:spcAft>
                <a:spcPts val="1000"/>
              </a:spcAft>
              <a:buClr>
                <a:schemeClr val="accent1"/>
              </a:buClr>
              <a:buSzPct val="100000"/>
            </a:pPr>
            <a:r>
              <a:rPr lang="en-US">
                <a:ea typeface="+mn-lt"/>
                <a:cs typeface="+mn-lt"/>
              </a:rPr>
              <a:t>We aim to enhance passenger safety and accountability by maintaining a UID-based record of students and staff participating in each carpool. By linking ride details and passenger identities to their unique login IDs, the platform will enable easier identification and traceability in emergencies, promote responsible ride-sharing, and provide an additional layer of security, particularly for female passengers.</a:t>
            </a:r>
            <a:endParaRPr lang="en-US">
              <a:ea typeface="Calibri"/>
              <a:cs typeface="Calibri"/>
            </a:endParaRPr>
          </a:p>
          <a:p>
            <a:pPr>
              <a:spcAft>
                <a:spcPts val="1000"/>
              </a:spcAft>
              <a:buClr>
                <a:schemeClr val="accent1"/>
              </a:buClr>
              <a:buSzPct val="100000"/>
            </a:pPr>
            <a:r>
              <a:rPr lang="en-US" sz="2000" b="1"/>
              <a:t>What successful improvement we hope to achieve:</a:t>
            </a:r>
            <a:endParaRPr lang="en-US" sz="2000" b="1">
              <a:ea typeface="Calibri"/>
              <a:cs typeface="Calibri"/>
            </a:endParaRPr>
          </a:p>
          <a:p>
            <a:pPr>
              <a:spcAft>
                <a:spcPts val="1000"/>
              </a:spcAft>
              <a:buClr>
                <a:schemeClr val="accent1"/>
              </a:buClr>
              <a:buSzPct val="100000"/>
            </a:pPr>
            <a:r>
              <a:rPr lang="en-US">
                <a:ea typeface="+mn-lt"/>
                <a:cs typeface="+mn-lt"/>
              </a:rPr>
              <a:t>To establish a safe, reliable, and accountable carpooling network with UID-based passenger traceability, enabling quicker emergency response and enhanced security, particularly for female passengers.</a:t>
            </a:r>
            <a:endParaRPr lang="en-US">
              <a:ea typeface="Calibri"/>
              <a:cs typeface="Calibri"/>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2" name="Team Name">
            <a:extLst>
              <a:ext uri="{FF2B5EF4-FFF2-40B4-BE49-F238E27FC236}">
                <a16:creationId xmlns:a16="http://schemas.microsoft.com/office/drawing/2014/main" id="{EAE8515E-AF27-983C-9418-7F57087FDC52}"/>
              </a:ext>
            </a:extLst>
          </p:cNvPr>
          <p:cNvSpPr txBox="1"/>
          <p:nvPr/>
        </p:nvSpPr>
        <p:spPr>
          <a:xfrm>
            <a:off x="1419616" y="379873"/>
            <a:ext cx="1627632" cy="694944"/>
          </a:xfrm>
          <a:prstGeom prst="rect">
            <a:avLst/>
          </a:prstGeom>
          <a:noFill/>
          <a:ln/>
        </p:spPr>
        <p:txBody>
          <a:bodyPr wrap="square" lIns="0" tIns="0" rIns="0" bIns="0" rtlCol="0" anchor="ctr">
            <a:normAutofit/>
          </a:bodyPr>
          <a:lstStyle/>
          <a:p>
            <a:pPr marL="0" indent="0">
              <a:buNone/>
            </a:pPr>
            <a:r>
              <a:rPr lang="en-US" sz="900" b="1">
                <a:solidFill>
                  <a:schemeClr val="accent5"/>
                </a:solidFill>
              </a:rPr>
              <a:t>TEAM</a:t>
            </a:r>
            <a:endParaRPr lang="en-US" sz="900">
              <a:solidFill>
                <a:schemeClr val="accent5"/>
              </a:solidFill>
              <a:ea typeface="Calibri"/>
              <a:cs typeface="Calibri"/>
            </a:endParaRPr>
          </a:p>
          <a:p>
            <a:r>
              <a:rPr lang="en-US" sz="1500" b="1">
                <a:solidFill>
                  <a:schemeClr val="accent1"/>
                </a:solidFill>
              </a:rPr>
              <a:t>Binary Brains</a:t>
            </a:r>
            <a:endParaRPr lang="en-US" sz="1500">
              <a:solidFill>
                <a:schemeClr val="accent1"/>
              </a:solidFill>
              <a:ea typeface="Calibri"/>
              <a:cs typeface="Calibri"/>
            </a:endParaRPr>
          </a:p>
          <a:p>
            <a:pPr marL="0" indent="0">
              <a:buNone/>
            </a:pPr>
            <a:endParaRPr lang="en-US" sz="1500" b="1">
              <a:solidFill>
                <a:schemeClr val="accent1"/>
              </a:solidFill>
              <a:ea typeface="Calibri"/>
              <a:cs typeface="Calibri"/>
            </a:endParaRPr>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6</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Genesis Ideathon</vt:lpstr>
      <vt:lpstr>WHO IS AFFECTED?</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revision>2</cp:revision>
  <dcterms:created xsi:type="dcterms:W3CDTF">2026-10-07T15:27:40Z</dcterms:created>
  <dcterms:modified xsi:type="dcterms:W3CDTF">2026-10-10T09:58:57Z</dcterms:modified>
</cp:coreProperties>
</file>